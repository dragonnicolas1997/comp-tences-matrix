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147483573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howGuides="1">
      <p:cViewPr varScale="1">
        <p:scale>
          <a:sx n="66" d="100"/>
          <a:sy n="66" d="100"/>
        </p:scale>
        <p:origin x="0" y="0"/>
      </p:cViewPr>
      <p:guideLst>
        <p:guide orient="horz" pos="2160"/>
        <p:guide pos="3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mail Chanaa" userId="ede533ab-16bd-4c44-aa88-afd5896e3ed7" providerId="ADAL" clId="{75ED1F8A-91CC-42E1-B616-62E7C8F10F9F}"/>
    <pc:docChg chg="custSel delSld modSld">
      <pc:chgData name="Ismail Chanaa" userId="ede533ab-16bd-4c44-aa88-afd5896e3ed7" providerId="ADAL" clId="{75ED1F8A-91CC-42E1-B616-62E7C8F10F9F}" dt="2025-04-02T15:24:26.331" v="24" actId="20577"/>
      <pc:docMkLst>
        <pc:docMk/>
      </pc:docMkLst>
      <pc:sldChg chg="modSp mod">
        <pc:chgData name="Ismail Chanaa" userId="ede533ab-16bd-4c44-aa88-afd5896e3ed7" providerId="ADAL" clId="{75ED1F8A-91CC-42E1-B616-62E7C8F10F9F}" dt="2025-04-02T15:24:26.331" v="24" actId="20577"/>
        <pc:sldMkLst>
          <pc:docMk/>
          <pc:sldMk cId="3536740010" sldId="2147483573"/>
        </pc:sldMkLst>
        <pc:spChg chg="mod">
          <ac:chgData name="Ismail Chanaa" userId="ede533ab-16bd-4c44-aa88-afd5896e3ed7" providerId="ADAL" clId="{75ED1F8A-91CC-42E1-B616-62E7C8F10F9F}" dt="2025-04-02T15:24:26.331" v="24" actId="20577"/>
          <ac:spMkLst>
            <pc:docMk/>
            <pc:sldMk cId="3536740010" sldId="2147483573"/>
            <ac:spMk id="34" creationId="{230645E2-E2C6-4DD8-9C68-3172B3FBDAC2}"/>
          </ac:spMkLst>
        </pc:spChg>
      </pc:sldChg>
      <pc:sldChg chg="del">
        <pc:chgData name="Ismail Chanaa" userId="ede533ab-16bd-4c44-aa88-afd5896e3ed7" providerId="ADAL" clId="{75ED1F8A-91CC-42E1-B616-62E7C8F10F9F}" dt="2025-02-26T15:34:01.032" v="0" actId="47"/>
        <pc:sldMkLst>
          <pc:docMk/>
          <pc:sldMk cId="388150449" sldId="21474835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11D406-DBDD-462A-A4E5-4EB8E3CCC17F}" type="datetimeFigureOut">
              <a:rPr lang="fr-FR" smtClean="0"/>
              <a:t>04/04/2025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897F12-6967-40B0-B589-EDF072EFDCA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0523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97F12-6967-40B0-B589-EDF072EFDCA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7449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bâtiment, rue, avant, grand&#10;&#10;Description générée automatiquement">
            <a:extLst>
              <a:ext uri="{FF2B5EF4-FFF2-40B4-BE49-F238E27FC236}">
                <a16:creationId xmlns:a16="http://schemas.microsoft.com/office/drawing/2014/main" id="{17115935-1B44-4147-AEB0-69F78C7AAD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35D83846-CD0E-4FA5-BD48-7F2FD1327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706" y="2314475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CE06A88B-5408-4D30-8FBD-5B0DAD1A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2658" y="5076294"/>
            <a:ext cx="9144000" cy="32988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986AFC6C-549B-44E7-BD8E-CF4F4BAB5C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647" y="1049170"/>
            <a:ext cx="3245016" cy="714885"/>
          </a:xfrm>
          <a:prstGeom prst="rect">
            <a:avLst/>
          </a:prstGeom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4B7DAAE0-0903-404E-B686-FC1218D9F68B}"/>
              </a:ext>
            </a:extLst>
          </p:cNvPr>
          <p:cNvCxnSpPr>
            <a:cxnSpLocks/>
          </p:cNvCxnSpPr>
          <p:nvPr userDrawn="1"/>
        </p:nvCxnSpPr>
        <p:spPr>
          <a:xfrm>
            <a:off x="985706" y="4747365"/>
            <a:ext cx="900000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097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0A451CE-8254-43A3-8D58-3C70464FF7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295886" y="6607055"/>
            <a:ext cx="513725" cy="134625"/>
          </a:xfrm>
        </p:spPr>
        <p:txBody>
          <a:bodyPr/>
          <a:lstStyle/>
          <a:p>
            <a:pPr algn="r"/>
            <a:fld id="{BA630DD8-654C-CA4E-A1DC-BCC002181F2E}" type="slidenum">
              <a:rPr lang="fr-FR" smtClean="0"/>
              <a:pPr algn="r"/>
              <a:t>‹#›</a:t>
            </a:fld>
            <a:endParaRPr lang="fr-FR"/>
          </a:p>
        </p:txBody>
      </p:sp>
      <p:pic>
        <p:nvPicPr>
          <p:cNvPr id="12" name="Image 11" descr="Une image contenant bâtiment, rue, avant, grand&#10;&#10;Description générée automatiquement">
            <a:extLst>
              <a:ext uri="{FF2B5EF4-FFF2-40B4-BE49-F238E27FC236}">
                <a16:creationId xmlns:a16="http://schemas.microsoft.com/office/drawing/2014/main" id="{90C6BB97-0396-4F8D-B603-8D5295F690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7058"/>
          <a:stretch/>
        </p:blipFill>
        <p:spPr>
          <a:xfrm>
            <a:off x="1" y="3048"/>
            <a:ext cx="4016182" cy="685190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0640C0C-22B4-4D0E-BD04-FEFB4E277BE1}"/>
              </a:ext>
            </a:extLst>
          </p:cNvPr>
          <p:cNvSpPr/>
          <p:nvPr userDrawn="1"/>
        </p:nvSpPr>
        <p:spPr>
          <a:xfrm>
            <a:off x="1" y="0"/>
            <a:ext cx="4016182" cy="6851904"/>
          </a:xfrm>
          <a:prstGeom prst="rect">
            <a:avLst/>
          </a:prstGeom>
          <a:gradFill flip="none" rotWithShape="1">
            <a:gsLst>
              <a:gs pos="100000">
                <a:srgbClr val="004E98">
                  <a:alpha val="69000"/>
                </a:srgbClr>
              </a:gs>
              <a:gs pos="0">
                <a:srgbClr val="002060">
                  <a:alpha val="59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D432CBC-D65F-4E2F-9781-9433255D0302}"/>
              </a:ext>
            </a:extLst>
          </p:cNvPr>
          <p:cNvSpPr txBox="1"/>
          <p:nvPr/>
        </p:nvSpPr>
        <p:spPr>
          <a:xfrm>
            <a:off x="540211" y="294719"/>
            <a:ext cx="3170085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4400" b="1">
                <a:solidFill>
                  <a:srgbClr val="FFFFFF"/>
                </a:solidFill>
                <a:latin typeface="+mj-lt"/>
              </a:rPr>
              <a:t>AGENDA</a:t>
            </a:r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59F33017-D569-430B-9C80-30BA677F4F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6773" y="6549703"/>
            <a:ext cx="1131759" cy="249329"/>
          </a:xfrm>
          <a:prstGeom prst="rect">
            <a:avLst/>
          </a:prstGeom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64A6696C-6894-4017-B5EC-D6EDBA9553BB}"/>
              </a:ext>
            </a:extLst>
          </p:cNvPr>
          <p:cNvCxnSpPr>
            <a:cxnSpLocks/>
          </p:cNvCxnSpPr>
          <p:nvPr userDrawn="1"/>
        </p:nvCxnSpPr>
        <p:spPr>
          <a:xfrm>
            <a:off x="540211" y="999449"/>
            <a:ext cx="900000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220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495F62-1D2B-46AC-913F-AB5536D462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BA630DD8-654C-CA4E-A1DC-BCC002181F2E}" type="slidenum">
              <a:rPr lang="fr-FR" smtClean="0"/>
              <a:pPr algn="r"/>
              <a:t>‹#›</a:t>
            </a:fld>
            <a:endParaRPr lang="fr-FR"/>
          </a:p>
        </p:txBody>
      </p:sp>
      <p:pic>
        <p:nvPicPr>
          <p:cNvPr id="4" name="Image 3" descr="Une image contenant bâtiment, rue, avant, grand&#10;&#10;Description générée automatiquement">
            <a:extLst>
              <a:ext uri="{FF2B5EF4-FFF2-40B4-BE49-F238E27FC236}">
                <a16:creationId xmlns:a16="http://schemas.microsoft.com/office/drawing/2014/main" id="{AB5EEE25-991C-4D8D-995F-052377E9A9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r="67059"/>
          <a:stretch/>
        </p:blipFill>
        <p:spPr>
          <a:xfrm>
            <a:off x="0" y="3048"/>
            <a:ext cx="4016182" cy="68519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AB77B63-609D-4A57-A3D5-E82BDE53E680}"/>
              </a:ext>
            </a:extLst>
          </p:cNvPr>
          <p:cNvSpPr/>
          <p:nvPr userDrawn="1"/>
        </p:nvSpPr>
        <p:spPr>
          <a:xfrm>
            <a:off x="0" y="0"/>
            <a:ext cx="4016182" cy="6851904"/>
          </a:xfrm>
          <a:prstGeom prst="rect">
            <a:avLst/>
          </a:prstGeom>
          <a:gradFill flip="none" rotWithShape="1">
            <a:gsLst>
              <a:gs pos="100000">
                <a:srgbClr val="004E98">
                  <a:alpha val="69000"/>
                </a:srgbClr>
              </a:gs>
              <a:gs pos="0">
                <a:srgbClr val="002060">
                  <a:alpha val="59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DC4B09B0-56BF-4F8C-9030-91C813F38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42700" y="2884236"/>
            <a:ext cx="6203017" cy="1089529"/>
          </a:xfrm>
        </p:spPr>
        <p:txBody>
          <a:bodyPr wrap="square">
            <a:spAutoFit/>
          </a:bodyPr>
          <a:lstStyle>
            <a:lvl1pPr marL="0" indent="0">
              <a:buNone/>
              <a:defRPr sz="3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EBCB5A5-70C0-435C-968F-3AD3BD7594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6773" y="6549703"/>
            <a:ext cx="1131759" cy="24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13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E15B36-A20A-294A-BC47-3B7B9F99569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lIns="0" tIns="0" rIns="0" bIns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8E3981-FBA4-4E4E-B336-7E568313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30DD8-654C-CA4E-A1DC-BCC002181F2E}" type="slidenum">
              <a:rPr lang="fr-FR" smtClean="0"/>
              <a:t>‹#›</a:t>
            </a:fld>
            <a:endParaRPr lang="fr-FR"/>
          </a:p>
        </p:txBody>
      </p:sp>
      <p:sp>
        <p:nvSpPr>
          <p:cNvPr id="7" name="Espace réservé du titre 1">
            <a:extLst>
              <a:ext uri="{FF2B5EF4-FFF2-40B4-BE49-F238E27FC236}">
                <a16:creationId xmlns:a16="http://schemas.microsoft.com/office/drawing/2014/main" id="{320CF1B8-008A-4721-90EE-A1025BBE4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07" y="359060"/>
            <a:ext cx="11427226" cy="79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320093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8502A6-201F-4E49-A0C9-8EB5178D150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77307" y="1479929"/>
            <a:ext cx="5394229" cy="4871710"/>
          </a:xfrm>
        </p:spPr>
        <p:txBody>
          <a:bodyPr vert="horz" lIns="0" tIns="0" rIns="0" bIns="0" rtlCol="0">
            <a:noAutofit/>
          </a:bodyPr>
          <a:lstStyle>
            <a:lvl1pPr>
              <a:defRPr lang="fr-FR" dirty="0"/>
            </a:lvl1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58F14F5-AC02-FB4E-9CA3-19B265F291E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10304" y="1479929"/>
            <a:ext cx="5394229" cy="4871710"/>
          </a:xfrm>
        </p:spPr>
        <p:txBody>
          <a:bodyPr vert="horz" lIns="0" tIns="0" rIns="0" bIns="0" rtlCol="0">
            <a:noAutofit/>
          </a:bodyPr>
          <a:lstStyle>
            <a:lvl1pPr>
              <a:defRPr lang="fr-FR" dirty="0"/>
            </a:lvl1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CC9EEB-C296-D54D-9476-41205A3F8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30DD8-654C-CA4E-A1DC-BCC002181F2E}" type="slidenum">
              <a:rPr lang="fr-FR" smtClean="0"/>
              <a:t>‹#›</a:t>
            </a:fld>
            <a:endParaRPr lang="fr-FR"/>
          </a:p>
        </p:txBody>
      </p:sp>
      <p:sp>
        <p:nvSpPr>
          <p:cNvPr id="9" name="Espace réservé du titre 1">
            <a:extLst>
              <a:ext uri="{FF2B5EF4-FFF2-40B4-BE49-F238E27FC236}">
                <a16:creationId xmlns:a16="http://schemas.microsoft.com/office/drawing/2014/main" id="{D982BAA9-DC68-45F6-B3CD-379BAEB78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07" y="359060"/>
            <a:ext cx="11427226" cy="79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655207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00ABB90-0393-45DA-8F07-2B327BE843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BA630DD8-654C-CA4E-A1DC-BCC002181F2E}" type="slidenum">
              <a:rPr lang="fr-FR" smtClean="0"/>
              <a:pPr algn="r"/>
              <a:t>‹#›</a:t>
            </a:fld>
            <a:endParaRPr lang="fr-FR"/>
          </a:p>
        </p:txBody>
      </p:sp>
      <p:sp>
        <p:nvSpPr>
          <p:cNvPr id="4" name="Espace réservé du titre 1">
            <a:extLst>
              <a:ext uri="{FF2B5EF4-FFF2-40B4-BE49-F238E27FC236}">
                <a16:creationId xmlns:a16="http://schemas.microsoft.com/office/drawing/2014/main" id="{FFCA3372-0A17-4035-B8BF-98145FC85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07" y="359060"/>
            <a:ext cx="11427226" cy="79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818828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00ABB90-0393-45DA-8F07-2B327BE843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BA630DD8-654C-CA4E-A1DC-BCC002181F2E}" type="slidenum">
              <a:rPr lang="fr-FR" smtClean="0"/>
              <a:pPr algn="r"/>
              <a:t>‹#›</a:t>
            </a:fld>
            <a:endParaRPr lang="fr-FR"/>
          </a:p>
        </p:txBody>
      </p:sp>
      <p:sp>
        <p:nvSpPr>
          <p:cNvPr id="4" name="Espace réservé du titre 1">
            <a:extLst>
              <a:ext uri="{FF2B5EF4-FFF2-40B4-BE49-F238E27FC236}">
                <a16:creationId xmlns:a16="http://schemas.microsoft.com/office/drawing/2014/main" id="{FFCA3372-0A17-4035-B8BF-98145FC85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07" y="359060"/>
            <a:ext cx="11427226" cy="79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fr-FR"/>
              <a:t>Modifiez le style du titre</a:t>
            </a: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B477269A-B8B7-4EFE-AA3E-C050B719A0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329" t="24275" r="6533" b="22319"/>
          <a:stretch/>
        </p:blipFill>
        <p:spPr>
          <a:xfrm>
            <a:off x="320041" y="6529740"/>
            <a:ext cx="1184910" cy="289257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C488D3-644B-4A2C-BF07-CB63E7FC0A79}"/>
              </a:ext>
            </a:extLst>
          </p:cNvPr>
          <p:cNvSpPr txBox="1">
            <a:spLocks/>
          </p:cNvSpPr>
          <p:nvPr userDrawn="1"/>
        </p:nvSpPr>
        <p:spPr>
          <a:xfrm>
            <a:off x="4282313" y="6584964"/>
            <a:ext cx="3627374" cy="1346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3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900">
                <a:solidFill>
                  <a:schemeClr val="bg2">
                    <a:lumMod val="50000"/>
                  </a:schemeClr>
                </a:solidFill>
              </a:rPr>
              <a:t>Confidential – © AI BUILDERS 2022 –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150428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6014391-A048-4468-9608-07B263BC05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BA630DD8-654C-CA4E-A1DC-BCC002181F2E}" type="slidenum">
              <a:rPr lang="fr-FR" smtClean="0"/>
              <a:pPr algn="r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6004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BC53946-478C-4D7B-BBA2-732F85732B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BA630DD8-654C-CA4E-A1DC-BCC002181F2E}" type="slidenum">
              <a:rPr lang="fr-FR" smtClean="0"/>
              <a:pPr algn="r"/>
              <a:t>‹#›</a:t>
            </a:fld>
            <a:endParaRPr lang="fr-FR"/>
          </a:p>
        </p:txBody>
      </p:sp>
      <p:pic>
        <p:nvPicPr>
          <p:cNvPr id="4" name="Image 3" descr="Une image contenant bâtiment, rue, avant, grand&#10;&#10;Description générée automatiquement">
            <a:extLst>
              <a:ext uri="{FF2B5EF4-FFF2-40B4-BE49-F238E27FC236}">
                <a16:creationId xmlns:a16="http://schemas.microsoft.com/office/drawing/2014/main" id="{4332019A-FB22-4CCA-8012-C0444D9083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BD517400-0A61-408C-ACD3-4CA85AC72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181132"/>
            <a:ext cx="12191998" cy="1600200"/>
          </a:xfrm>
        </p:spPr>
        <p:txBody>
          <a:bodyPr anchor="b">
            <a:noAutofit/>
          </a:bodyPr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C0BB3C30-F9AD-437B-956C-A4204A2E680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0" y="5731676"/>
            <a:ext cx="12191999" cy="8004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fr-FR" err="1"/>
              <a:t>www.aibuilders.ai</a:t>
            </a:r>
            <a:endParaRPr lang="fr-FR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03D44089-B52E-4E55-B022-3CAEFEF44A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9711" y="1728886"/>
            <a:ext cx="2600440" cy="57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004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D56438-A66B-6944-8D91-F382CD1AF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E755163F-D49F-4CB0-820A-285B5A322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386" y="1479928"/>
            <a:ext cx="11427225" cy="46970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fr-FR" dirty="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7AAFF0-E4CA-481D-B912-2BED0D0C47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5886" y="6584964"/>
            <a:ext cx="513725" cy="1346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r"/>
            <a:fld id="{BA630DD8-654C-CA4E-A1DC-BCC002181F2E}" type="slidenum">
              <a:rPr lang="fr-FR" smtClean="0"/>
              <a:pPr algn="r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9597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5495F62-1D2B-46AC-913F-AB5536D462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BA630DD8-654C-CA4E-A1DC-BCC002181F2E}" type="slidenum">
              <a:rPr lang="fr-FR" smtClean="0"/>
              <a:pPr algn="r"/>
              <a:t>‹#›</a:t>
            </a:fld>
            <a:endParaRPr lang="fr-FR"/>
          </a:p>
        </p:txBody>
      </p:sp>
      <p:pic>
        <p:nvPicPr>
          <p:cNvPr id="4" name="Image 3" descr="Une image contenant bâtiment, rue, avant, grand&#10;&#10;Description générée automatiquement">
            <a:extLst>
              <a:ext uri="{FF2B5EF4-FFF2-40B4-BE49-F238E27FC236}">
                <a16:creationId xmlns:a16="http://schemas.microsoft.com/office/drawing/2014/main" id="{AB5EEE25-991C-4D8D-995F-052377E9A9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r="67059"/>
          <a:stretch/>
        </p:blipFill>
        <p:spPr>
          <a:xfrm>
            <a:off x="0" y="3048"/>
            <a:ext cx="4016182" cy="68519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AB77B63-609D-4A57-A3D5-E82BDE53E680}"/>
              </a:ext>
            </a:extLst>
          </p:cNvPr>
          <p:cNvSpPr/>
          <p:nvPr userDrawn="1"/>
        </p:nvSpPr>
        <p:spPr>
          <a:xfrm>
            <a:off x="0" y="0"/>
            <a:ext cx="4016182" cy="6851904"/>
          </a:xfrm>
          <a:prstGeom prst="rect">
            <a:avLst/>
          </a:prstGeom>
          <a:gradFill flip="none" rotWithShape="1">
            <a:gsLst>
              <a:gs pos="100000">
                <a:srgbClr val="004E98">
                  <a:alpha val="69000"/>
                </a:srgbClr>
              </a:gs>
              <a:gs pos="0">
                <a:srgbClr val="002060">
                  <a:alpha val="59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DC4B09B0-56BF-4F8C-9030-91C813F38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42700" y="2884236"/>
            <a:ext cx="6203017" cy="1089529"/>
          </a:xfrm>
        </p:spPr>
        <p:txBody>
          <a:bodyPr wrap="square">
            <a:spAutoFit/>
          </a:bodyPr>
          <a:lstStyle>
            <a:lvl1pPr marL="0" indent="0">
              <a:buNone/>
              <a:defRPr sz="3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DEBCB5A5-70C0-435C-968F-3AD3BD7594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6773" y="6549703"/>
            <a:ext cx="1131759" cy="24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308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71EAEDE-C7BD-1343-BFA1-DB93C800EB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-1" y="0"/>
            <a:ext cx="7277633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5A60B8E-7A53-E340-B99B-848CDBF88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4968" y="1038174"/>
            <a:ext cx="3894646" cy="1600200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0075B7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EA2B9A-1031-5B4F-ABDC-DEAEB65F8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14966" y="3264309"/>
            <a:ext cx="3894646" cy="2555516"/>
          </a:xfrm>
        </p:spPr>
        <p:txBody>
          <a:bodyPr/>
          <a:lstStyle>
            <a:lvl1pPr marL="285750" indent="-285750" algn="l"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60B066-DE1D-5441-8FFB-ECF773E595D0}"/>
              </a:ext>
            </a:extLst>
          </p:cNvPr>
          <p:cNvSpPr/>
          <p:nvPr userDrawn="1"/>
        </p:nvSpPr>
        <p:spPr>
          <a:xfrm>
            <a:off x="382386" y="1199535"/>
            <a:ext cx="1151446" cy="1868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1AC2A5F-EACA-F542-AA22-3DD53B9E8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630DD8-654C-CA4E-A1DC-BCC002181F2E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3153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que 18">
            <a:extLst>
              <a:ext uri="{FF2B5EF4-FFF2-40B4-BE49-F238E27FC236}">
                <a16:creationId xmlns:a16="http://schemas.microsoft.com/office/drawing/2014/main" id="{3C333F1F-50DD-417F-B5C0-32D90DF9F6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8329" t="24275" r="6533" b="22319"/>
          <a:stretch/>
        </p:blipFill>
        <p:spPr>
          <a:xfrm>
            <a:off x="320041" y="6529740"/>
            <a:ext cx="1184910" cy="289257"/>
          </a:xfrm>
          <a:prstGeom prst="rect">
            <a:avLst/>
          </a:prstGeom>
        </p:spPr>
      </p:pic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6C1EE77-D8DF-364C-A5A4-7B901F947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307" y="359060"/>
            <a:ext cx="11427226" cy="79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422A721-1B7F-0F40-A51D-A47163A31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307" y="1479928"/>
            <a:ext cx="11427225" cy="46970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1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CF3FF3-946C-2744-B863-BC137C051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5886" y="6607056"/>
            <a:ext cx="513725" cy="1346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r"/>
            <a:fld id="{BA630DD8-654C-CA4E-A1DC-BCC002181F2E}" type="slidenum">
              <a:rPr lang="fr-FR" smtClean="0"/>
              <a:pPr algn="r"/>
              <a:t>‹#›</a:t>
            </a:fld>
            <a:endParaRPr lang="fr-FR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094EF249-2A5A-4FA2-88D8-5929E1A9AF98}"/>
              </a:ext>
            </a:extLst>
          </p:cNvPr>
          <p:cNvSpPr txBox="1">
            <a:spLocks/>
          </p:cNvSpPr>
          <p:nvPr userDrawn="1"/>
        </p:nvSpPr>
        <p:spPr>
          <a:xfrm>
            <a:off x="4282313" y="6584964"/>
            <a:ext cx="3627374" cy="1346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3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900" err="1">
                <a:solidFill>
                  <a:schemeClr val="bg2">
                    <a:lumMod val="50000"/>
                  </a:schemeClr>
                </a:solidFill>
              </a:rPr>
              <a:t>Confidential</a:t>
            </a:r>
            <a:r>
              <a:rPr lang="fr-FR" sz="900">
                <a:solidFill>
                  <a:schemeClr val="bg2">
                    <a:lumMod val="50000"/>
                  </a:schemeClr>
                </a:solidFill>
              </a:rPr>
              <a:t> – © AI BUILDERS 2023 – All </a:t>
            </a:r>
            <a:r>
              <a:rPr lang="fr-FR" sz="900" err="1">
                <a:solidFill>
                  <a:schemeClr val="bg2">
                    <a:lumMod val="50000"/>
                  </a:schemeClr>
                </a:solidFill>
              </a:rPr>
              <a:t>rights</a:t>
            </a:r>
            <a:r>
              <a:rPr lang="fr-FR" sz="90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fr-FR" sz="900" err="1">
                <a:solidFill>
                  <a:schemeClr val="bg2">
                    <a:lumMod val="50000"/>
                  </a:schemeClr>
                </a:solidFill>
              </a:rPr>
              <a:t>reserved</a:t>
            </a:r>
            <a:endParaRPr lang="fr-FR" sz="90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654D052C-3B82-4317-9CE5-F26FC90A1ACB}"/>
              </a:ext>
            </a:extLst>
          </p:cNvPr>
          <p:cNvCxnSpPr>
            <a:cxnSpLocks/>
          </p:cNvCxnSpPr>
          <p:nvPr userDrawn="1"/>
        </p:nvCxnSpPr>
        <p:spPr>
          <a:xfrm>
            <a:off x="377307" y="1243057"/>
            <a:ext cx="900000" cy="0"/>
          </a:xfrm>
          <a:prstGeom prst="line">
            <a:avLst/>
          </a:prstGeom>
          <a:ln w="63500">
            <a:solidFill>
              <a:srgbClr val="0075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C20F336A-2F62-422C-B3A8-11B3847A4A12}"/>
              </a:ext>
            </a:extLst>
          </p:cNvPr>
          <p:cNvGrpSpPr/>
          <p:nvPr userDrawn="1"/>
        </p:nvGrpSpPr>
        <p:grpSpPr>
          <a:xfrm>
            <a:off x="-990987" y="747456"/>
            <a:ext cx="612000" cy="5417969"/>
            <a:chOff x="-990987" y="747456"/>
            <a:chExt cx="612000" cy="5417969"/>
          </a:xfrm>
        </p:grpSpPr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3322D5B7-CEAF-42EC-AEF0-2018EE6FC3ED}"/>
                </a:ext>
              </a:extLst>
            </p:cNvPr>
            <p:cNvSpPr/>
            <p:nvPr/>
          </p:nvSpPr>
          <p:spPr>
            <a:xfrm>
              <a:off x="-990987" y="1549163"/>
              <a:ext cx="612000" cy="612000"/>
            </a:xfrm>
            <a:prstGeom prst="ellipse">
              <a:avLst/>
            </a:prstGeom>
            <a:solidFill>
              <a:srgbClr val="0075B7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endParaRPr lang="fr-FR" sz="1100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8E9F4A54-9ABF-47F9-BF7B-EEEC57C00C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990987" y="2350870"/>
              <a:ext cx="607727" cy="607727"/>
            </a:xfrm>
            <a:prstGeom prst="ellipse">
              <a:avLst/>
            </a:prstGeom>
            <a:solidFill>
              <a:srgbClr val="049DD9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1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2800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7E59A411-96A3-4C2B-A6E5-ADE62BC6A8E9}"/>
                </a:ext>
              </a:extLst>
            </p:cNvPr>
            <p:cNvSpPr/>
            <p:nvPr/>
          </p:nvSpPr>
          <p:spPr>
            <a:xfrm>
              <a:off x="-990987" y="4751718"/>
              <a:ext cx="612000" cy="612000"/>
            </a:xfrm>
            <a:prstGeom prst="ellipse">
              <a:avLst/>
            </a:prstGeom>
            <a:solidFill>
              <a:srgbClr val="B4B3B3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endParaRPr lang="fr-FR" sz="1100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D6036FD7-A446-47BB-A05C-63E1E0814879}"/>
                </a:ext>
              </a:extLst>
            </p:cNvPr>
            <p:cNvSpPr/>
            <p:nvPr/>
          </p:nvSpPr>
          <p:spPr>
            <a:xfrm>
              <a:off x="-990987" y="3950011"/>
              <a:ext cx="612000" cy="612000"/>
            </a:xfrm>
            <a:prstGeom prst="ellipse">
              <a:avLst/>
            </a:prstGeom>
            <a:solidFill>
              <a:srgbClr val="ABDFFF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endParaRPr lang="fr-FR" sz="1100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0FD87D09-103E-41B3-8C55-A72934553B20}"/>
                </a:ext>
              </a:extLst>
            </p:cNvPr>
            <p:cNvSpPr/>
            <p:nvPr/>
          </p:nvSpPr>
          <p:spPr>
            <a:xfrm>
              <a:off x="-990987" y="747456"/>
              <a:ext cx="612000" cy="612000"/>
            </a:xfrm>
            <a:prstGeom prst="ellipse">
              <a:avLst/>
            </a:prstGeom>
            <a:solidFill>
              <a:srgbClr val="004E98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endParaRPr lang="fr-FR" sz="1100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817E8D22-D8C5-4397-B8E2-2392E48E70FA}"/>
                </a:ext>
              </a:extLst>
            </p:cNvPr>
            <p:cNvSpPr/>
            <p:nvPr/>
          </p:nvSpPr>
          <p:spPr>
            <a:xfrm>
              <a:off x="-990987" y="5553425"/>
              <a:ext cx="612000" cy="612000"/>
            </a:xfrm>
            <a:prstGeom prst="ellipse">
              <a:avLst/>
            </a:prstGeom>
            <a:solidFill>
              <a:srgbClr val="FE5F55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endParaRPr lang="fr-FR" sz="1100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CB9DC726-B677-4A28-869F-43DF6F48714F}"/>
                </a:ext>
              </a:extLst>
            </p:cNvPr>
            <p:cNvSpPr/>
            <p:nvPr/>
          </p:nvSpPr>
          <p:spPr>
            <a:xfrm>
              <a:off x="-990987" y="3148304"/>
              <a:ext cx="612000" cy="612000"/>
            </a:xfrm>
            <a:prstGeom prst="ellipse">
              <a:avLst/>
            </a:prstGeom>
            <a:solidFill>
              <a:srgbClr val="04B2D9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endParaRPr lang="fr-FR" sz="1100" b="1">
                <a:solidFill>
                  <a:schemeClr val="bg1"/>
                </a:solidFill>
                <a:latin typeface="+mj-lt"/>
              </a:endParaRPr>
            </a:p>
          </p:txBody>
        </p: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0727BF83-76FC-469E-9DFB-D5DE282D73D1}"/>
              </a:ext>
            </a:extLst>
          </p:cNvPr>
          <p:cNvGrpSpPr/>
          <p:nvPr userDrawn="1"/>
        </p:nvGrpSpPr>
        <p:grpSpPr>
          <a:xfrm>
            <a:off x="-2218327" y="2740670"/>
            <a:ext cx="612000" cy="1431541"/>
            <a:chOff x="-2218327" y="1665141"/>
            <a:chExt cx="612000" cy="1431541"/>
          </a:xfrm>
        </p:grpSpPr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D3E80AB8-CBBB-4CB5-83C9-3E81414FDC97}"/>
                </a:ext>
              </a:extLst>
            </p:cNvPr>
            <p:cNvSpPr/>
            <p:nvPr/>
          </p:nvSpPr>
          <p:spPr>
            <a:xfrm>
              <a:off x="-2218327" y="2484682"/>
              <a:ext cx="612000" cy="612000"/>
            </a:xfrm>
            <a:prstGeom prst="ellipse">
              <a:avLst/>
            </a:prstGeom>
            <a:solidFill>
              <a:srgbClr val="F7C543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endParaRPr lang="fr-FR" sz="1100" b="1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163205F1-D29F-4982-8933-E33E5E0C7150}"/>
                </a:ext>
              </a:extLst>
            </p:cNvPr>
            <p:cNvSpPr/>
            <p:nvPr/>
          </p:nvSpPr>
          <p:spPr>
            <a:xfrm>
              <a:off x="-2218327" y="1665141"/>
              <a:ext cx="612000" cy="612000"/>
            </a:xfrm>
            <a:prstGeom prst="ellipse">
              <a:avLst/>
            </a:prstGeom>
            <a:solidFill>
              <a:srgbClr val="00D16C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endParaRPr lang="fr-FR" sz="1100" b="1">
                <a:solidFill>
                  <a:schemeClr val="bg1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9909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075B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5B7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234">
          <p15:clr>
            <a:srgbClr val="F26B43"/>
          </p15:clr>
        </p15:guide>
        <p15:guide id="3" orient="horz" pos="4110">
          <p15:clr>
            <a:srgbClr val="F26B43"/>
          </p15:clr>
        </p15:guide>
        <p15:guide id="4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jpeg"/><Relationship Id="rId18" Type="http://schemas.openxmlformats.org/officeDocument/2006/relationships/image" Target="../media/image18.png"/><Relationship Id="rId3" Type="http://schemas.openxmlformats.org/officeDocument/2006/relationships/tags" Target="../tags/tag3.xml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" Type="http://schemas.openxmlformats.org/officeDocument/2006/relationships/tags" Target="../tags/tag2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11" Type="http://schemas.openxmlformats.org/officeDocument/2006/relationships/image" Target="../media/image11.png"/><Relationship Id="rId5" Type="http://schemas.openxmlformats.org/officeDocument/2006/relationships/slideLayout" Target="../slideLayouts/slideLayout4.xml"/><Relationship Id="rId15" Type="http://schemas.openxmlformats.org/officeDocument/2006/relationships/image" Target="../media/image15.sv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4" Type="http://schemas.openxmlformats.org/officeDocument/2006/relationships/tags" Target="../tags/tag4.xml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5B347D-0A3C-4FA2-B210-8C8552577D7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630DD8-654C-CA4E-A1DC-BCC002181F2E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8F899B-5283-4BE3-AECF-0680F3AC68C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432205" y="1318852"/>
            <a:ext cx="8340923" cy="289595"/>
          </a:xfrm>
          <a:prstGeom prst="rect">
            <a:avLst/>
          </a:prstGeom>
          <a:solidFill>
            <a:srgbClr val="0075B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5143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300" b="1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QUELQUES EXPÉRIENCES PERTINENTES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0645E2-E2C6-4DD8-9C68-3172B3FBDAC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487600" y="1576034"/>
            <a:ext cx="8285527" cy="47811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Allianz Trade</a:t>
            </a:r>
          </a:p>
          <a:p>
            <a:pPr marL="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B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Projet de simplification du portefeuille produits du groupe Allianz Trade (52 entités) – 6 mois</a:t>
            </a:r>
          </a:p>
          <a:p>
            <a:pPr marL="45720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Cartographie de l’ensemble des produits vendus au niveau local par les entités du groupe (Contrats </a:t>
            </a:r>
            <a:r>
              <a:rPr lang="fr-FR" sz="900">
                <a:solidFill>
                  <a:prstClr val="black"/>
                </a:solidFill>
                <a:latin typeface="Calibri" panose="020F0502020204030204"/>
              </a:rPr>
              <a:t>et g</a:t>
            </a:r>
            <a:r>
              <a:rPr kumimoji="0" lang="fr-FR" sz="9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arantie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associés, </a:t>
            </a:r>
            <a:r>
              <a:rPr kumimoji="0" lang="fr-FR" sz="9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pricing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type de documents)</a:t>
            </a:r>
          </a:p>
          <a:p>
            <a:pPr marL="45720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900">
                <a:solidFill>
                  <a:prstClr val="black"/>
                </a:solidFill>
                <a:latin typeface="Calibri" panose="020F0502020204030204"/>
              </a:rPr>
              <a:t>Mise en place d’un </a:t>
            </a:r>
            <a:r>
              <a:rPr lang="fr-FR" sz="900" err="1">
                <a:solidFill>
                  <a:prstClr val="black"/>
                </a:solidFill>
                <a:latin typeface="Calibri" panose="020F0502020204030204"/>
              </a:rPr>
              <a:t>product</a:t>
            </a:r>
            <a:r>
              <a:rPr lang="fr-FR" sz="900">
                <a:solidFill>
                  <a:prstClr val="black"/>
                </a:solidFill>
                <a:latin typeface="Calibri" panose="020F0502020204030204"/>
              </a:rPr>
              <a:t> model simplifié et harmonisé et d’une feuille de route de son déploiement dans les différentes entités du groupe</a:t>
            </a:r>
          </a:p>
          <a:p>
            <a:pPr marL="45720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Préparation des supports de COPIL</a:t>
            </a:r>
            <a:r>
              <a:rPr lang="fr-FR" sz="900">
                <a:solidFill>
                  <a:prstClr val="black"/>
                </a:solidFill>
                <a:latin typeface="Calibri" panose="020F0502020204030204"/>
              </a:rPr>
              <a:t> et du COMEX sur le projet et accompagnement des filiales dans l’arbitrage des exceptions (légales, marché ou concurrence)</a:t>
            </a:r>
            <a:endParaRPr kumimoji="0" lang="fr-F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Réalisation du </a:t>
            </a:r>
            <a:r>
              <a:rPr kumimoji="0" lang="fr-FR" sz="9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reporting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pour le COMEX du groupe Allianz SE sur le programme, son avancement et de son suivi financier</a:t>
            </a:r>
          </a:p>
          <a:p>
            <a:pPr marL="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B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fr-FR" sz="900" b="1">
                <a:solidFill>
                  <a:prstClr val="black"/>
                </a:solidFill>
                <a:latin typeface="Calibri" panose="020F0502020204030204"/>
              </a:rPr>
              <a:t>Modernisation de l’environnement applicatif du groupe Allianz Trade avec la création d’une IT Master platform dans le cloud</a:t>
            </a: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18 mois</a:t>
            </a:r>
            <a:endParaRPr lang="fr-FR" sz="900" b="1">
              <a:solidFill>
                <a:prstClr val="black"/>
              </a:solidFill>
              <a:latin typeface="Calibri" panose="020F0502020204030204"/>
            </a:endParaRPr>
          </a:p>
          <a:p>
            <a:pPr marL="45720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900">
                <a:solidFill>
                  <a:prstClr val="black"/>
                </a:solidFill>
                <a:latin typeface="Calibri" panose="020F0502020204030204"/>
              </a:rPr>
              <a:t>Inventaire et cartographie des systèmes cœur métiers au sein du groupe avec le pilotage d’un audit sur tous les systèmes </a:t>
            </a:r>
            <a:r>
              <a:rPr lang="fr-FR" sz="900" err="1">
                <a:solidFill>
                  <a:prstClr val="black"/>
                </a:solidFill>
                <a:latin typeface="Calibri" panose="020F0502020204030204"/>
              </a:rPr>
              <a:t>legacy</a:t>
            </a:r>
            <a:r>
              <a:rPr lang="fr-FR" sz="900">
                <a:solidFill>
                  <a:prstClr val="black"/>
                </a:solidFill>
                <a:latin typeface="Calibri" panose="020F0502020204030204"/>
              </a:rPr>
              <a:t> (Obsolescence, niveau de risque…)</a:t>
            </a:r>
            <a:endParaRPr kumimoji="0" lang="fr-F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900">
                <a:solidFill>
                  <a:prstClr val="black"/>
                </a:solidFill>
                <a:latin typeface="Calibri" panose="020F0502020204030204"/>
              </a:rPr>
              <a:t>Définition de la stratégie de re-</a:t>
            </a:r>
            <a:r>
              <a:rPr lang="fr-FR" sz="900" err="1">
                <a:solidFill>
                  <a:prstClr val="black"/>
                </a:solidFill>
                <a:latin typeface="Calibri" panose="020F0502020204030204"/>
              </a:rPr>
              <a:t>platformisation</a:t>
            </a:r>
            <a:r>
              <a:rPr lang="fr-FR" sz="900">
                <a:solidFill>
                  <a:prstClr val="black"/>
                </a:solidFill>
                <a:latin typeface="Calibri" panose="020F0502020204030204"/>
              </a:rPr>
              <a:t> (</a:t>
            </a:r>
            <a:r>
              <a:rPr lang="fr-FR" sz="900" err="1">
                <a:solidFill>
                  <a:prstClr val="black"/>
                </a:solidFill>
                <a:latin typeface="Calibri" panose="020F0502020204030204"/>
              </a:rPr>
              <a:t>Build</a:t>
            </a:r>
            <a:r>
              <a:rPr lang="fr-FR" sz="900">
                <a:solidFill>
                  <a:prstClr val="black"/>
                </a:solidFill>
                <a:latin typeface="Calibri" panose="020F0502020204030204"/>
              </a:rPr>
              <a:t>) et la stratégie de migration des systèmes </a:t>
            </a:r>
            <a:r>
              <a:rPr lang="fr-FR" sz="900" err="1">
                <a:solidFill>
                  <a:prstClr val="black"/>
                </a:solidFill>
                <a:latin typeface="Calibri" panose="020F0502020204030204"/>
              </a:rPr>
              <a:t>legacy</a:t>
            </a:r>
            <a:r>
              <a:rPr lang="fr-FR" sz="900">
                <a:solidFill>
                  <a:prstClr val="black"/>
                </a:solidFill>
                <a:latin typeface="Calibri" panose="020F0502020204030204"/>
              </a:rPr>
              <a:t> vers les systèmes cibles</a:t>
            </a:r>
          </a:p>
          <a:p>
            <a:pPr marL="45720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Pilotage transverse des programmes de transformation dans chaque pays </a:t>
            </a:r>
            <a:r>
              <a:rPr lang="fr-FR" sz="900">
                <a:solidFill>
                  <a:prstClr val="black"/>
                </a:solidFill>
                <a:latin typeface="Calibri" panose="020F0502020204030204"/>
              </a:rPr>
              <a:t>(Avancement, dépendances et risques associés)</a:t>
            </a:r>
            <a:endParaRPr kumimoji="0" lang="fr-F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B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Création d’un centre de service partagé (Allianz </a:t>
            </a:r>
            <a:r>
              <a:rPr kumimoji="0" lang="fr-FR" sz="9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technology</a:t>
            </a: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et transfert des compétences de développement d’Allianz Trade vers Allianz </a:t>
            </a:r>
            <a:r>
              <a:rPr kumimoji="0" lang="fr-FR" sz="9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Technology</a:t>
            </a: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18 mois</a:t>
            </a:r>
          </a:p>
          <a:p>
            <a:pPr marL="45720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Définition du scope de la DSI Allianz Trade à transférer (</a:t>
            </a:r>
            <a:r>
              <a:rPr kumimoji="0" lang="fr-FR" sz="9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ETPs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outils,…)</a:t>
            </a:r>
          </a:p>
          <a:p>
            <a:pPr marL="45720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Définition du nouveau modèle opérationnel cible de la DSI d’Allianz Trade et de la relation avec Allianz </a:t>
            </a:r>
            <a:r>
              <a:rPr kumimoji="0" lang="fr-FR" sz="9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Technology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(Gouvernance, processus</a:t>
            </a:r>
            <a:r>
              <a:rPr lang="fr-FR" sz="900">
                <a:solidFill>
                  <a:prstClr val="black"/>
                </a:solidFill>
                <a:latin typeface="Calibri" panose="020F0502020204030204"/>
              </a:rPr>
              <a:t>, organisation…)</a:t>
            </a:r>
          </a:p>
          <a:p>
            <a:pPr marL="45720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900">
                <a:solidFill>
                  <a:prstClr val="black"/>
                </a:solidFill>
                <a:latin typeface="Calibri" panose="020F0502020204030204"/>
              </a:rPr>
              <a:t>Pilotage du projet de transfert du personnel (Consultation </a:t>
            </a:r>
            <a:r>
              <a:rPr lang="fr-FR" sz="900" err="1">
                <a:solidFill>
                  <a:prstClr val="black"/>
                </a:solidFill>
                <a:latin typeface="Calibri" panose="020F0502020204030204"/>
              </a:rPr>
              <a:t>CSEs</a:t>
            </a:r>
            <a:r>
              <a:rPr lang="fr-FR" sz="900">
                <a:solidFill>
                  <a:prstClr val="black"/>
                </a:solidFill>
                <a:latin typeface="Calibri" panose="020F0502020204030204"/>
              </a:rPr>
              <a:t>, Rédaction des contrats d’outsourcing et des contrats de transfert, Suivi financier…)</a:t>
            </a:r>
            <a:endParaRPr kumimoji="0" lang="fr-FR" sz="9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Audiens Santé </a:t>
            </a:r>
          </a:p>
          <a:p>
            <a:pPr marL="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B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fr-FR" sz="900" b="1">
                <a:solidFill>
                  <a:prstClr val="black"/>
                </a:solidFill>
                <a:latin typeface="Calibri" panose="020F0502020204030204"/>
              </a:rPr>
              <a:t>Etude d’opportunité d’entrée sur le marché de la protection sociale pour les fonctionnaires du secteur de la culture – 3 mois</a:t>
            </a:r>
            <a:endParaRPr kumimoji="0" lang="fr-FR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Etude d’impacts de la réforme de la PSC sur le marché de la protection sociale</a:t>
            </a:r>
          </a:p>
          <a:p>
            <a:pPr marL="45720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Définition du potentiel en profitabilité pour Audiens santé à se positionner sur le marché et les impacts internes associés (Produits, fonctions cœurs de métiers et fonctions supports)</a:t>
            </a:r>
            <a:endParaRPr lang="fr-FR" sz="900">
              <a:solidFill>
                <a:prstClr val="black"/>
              </a:solidFill>
              <a:latin typeface="Calibri" panose="020F0502020204030204"/>
            </a:endParaRPr>
          </a:p>
          <a:p>
            <a:pPr>
              <a:buClr>
                <a:srgbClr val="0070C0"/>
              </a:buClr>
              <a:defRPr/>
            </a:pPr>
            <a:r>
              <a:rPr lang="fr-FR" sz="900" b="1">
                <a:solidFill>
                  <a:prstClr val="black"/>
                </a:solidFill>
                <a:latin typeface="Calibri" panose="020F0502020204030204"/>
              </a:rPr>
              <a:t>Ramsay Santé</a:t>
            </a:r>
            <a:endParaRPr kumimoji="0" lang="fr-FR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5B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fr-FR" sz="900" b="1">
                <a:solidFill>
                  <a:prstClr val="black"/>
                </a:solidFill>
                <a:latin typeface="Calibri" panose="020F0502020204030204"/>
              </a:rPr>
              <a:t>Benchmark des solutions digitales innovantes dans le secteur de la santé mentale et la qualité de vie au travail – 2 mois</a:t>
            </a:r>
            <a:endParaRPr kumimoji="0" lang="fr-FR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900">
                <a:solidFill>
                  <a:prstClr val="black"/>
                </a:solidFill>
                <a:latin typeface="Calibri" panose="020F0502020204030204"/>
              </a:rPr>
              <a:t>Cadrage du besoin client et des critères de sélection importants à identifier, pour compléter l’offre Ramsay Santé</a:t>
            </a:r>
            <a:endParaRPr kumimoji="0" lang="fr-F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Conduite d’entretiens avec +50 solutions digitales au niveau de l’Europe dans le secteur de la santé mentale (Mise en relation, Thérapies cognitives et comportementales, </a:t>
            </a:r>
            <a:r>
              <a:rPr kumimoji="0" lang="fr-FR" sz="9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Alerting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…)</a:t>
            </a:r>
          </a:p>
          <a:p>
            <a:pPr marL="45720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900">
                <a:solidFill>
                  <a:prstClr val="black"/>
                </a:solidFill>
                <a:latin typeface="Calibri" panose="020F0502020204030204"/>
              </a:rPr>
              <a:t>Recommandation de 4 solutions avec un business case mettant en avant les synergies possibles avec l’offre actuelle de Ramsay santé</a:t>
            </a:r>
            <a:endParaRPr lang="fr-FR" sz="900" b="1">
              <a:solidFill>
                <a:prstClr val="black"/>
              </a:solidFill>
              <a:latin typeface="Calibri" panose="020F0502020204030204"/>
            </a:endParaRPr>
          </a:p>
          <a:p>
            <a:pPr marL="0" lvl="1">
              <a:buClr>
                <a:srgbClr val="0070C0"/>
              </a:buClr>
              <a:defRPr/>
            </a:pPr>
            <a:r>
              <a:rPr lang="fr-FR" sz="900" b="1">
                <a:solidFill>
                  <a:prstClr val="black"/>
                </a:solidFill>
                <a:latin typeface="Calibri" panose="020F0502020204030204"/>
              </a:rPr>
              <a:t>Hermès</a:t>
            </a:r>
          </a:p>
          <a:p>
            <a:pPr marL="171450" lvl="1" indent="-171450"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fr-FR" sz="900" b="1">
                <a:solidFill>
                  <a:prstClr val="black"/>
                </a:solidFill>
                <a:latin typeface="Calibri" panose="020F0502020204030204"/>
              </a:rPr>
              <a:t>Accompagnement dans le choix d’un nouveau prestataire de services de paiements (PSP) pour la marketplace Asie et US - 2 mois</a:t>
            </a:r>
          </a:p>
          <a:p>
            <a:pPr marL="45720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900">
                <a:solidFill>
                  <a:prstClr val="black"/>
                </a:solidFill>
                <a:latin typeface="Calibri" panose="020F0502020204030204"/>
              </a:rPr>
              <a:t>Cadrage du besoin client (Types de services, offre actuelle, volume de transactions, taux de fraude…)</a:t>
            </a:r>
            <a:endParaRPr kumimoji="0" lang="fr-F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Conduite d’entretiens avec +10 prestataires de services de paiements (</a:t>
            </a:r>
            <a:r>
              <a:rPr kumimoji="0" lang="fr-FR" sz="9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Adyen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Worldline…)</a:t>
            </a:r>
          </a:p>
          <a:p>
            <a:pPr marL="45720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900">
                <a:solidFill>
                  <a:prstClr val="black"/>
                </a:solidFill>
                <a:latin typeface="Calibri" panose="020F0502020204030204"/>
              </a:rPr>
              <a:t>Recommandation de 2 solutions et définition d’une feuille de route pour l’intégration de la solution au sein d’Hermès</a:t>
            </a:r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B8643DDE-76E4-6E10-6513-001A2C6E3B96}"/>
              </a:ext>
            </a:extLst>
          </p:cNvPr>
          <p:cNvGrpSpPr/>
          <p:nvPr/>
        </p:nvGrpSpPr>
        <p:grpSpPr>
          <a:xfrm>
            <a:off x="409344" y="4096705"/>
            <a:ext cx="2904085" cy="905910"/>
            <a:chOff x="409344" y="4023710"/>
            <a:chExt cx="2904085" cy="905910"/>
          </a:xfrm>
        </p:grpSpPr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2A31183E-F21C-463F-E0B6-8557663C1C7A}"/>
                </a:ext>
              </a:extLst>
            </p:cNvPr>
            <p:cNvGrpSpPr/>
            <p:nvPr/>
          </p:nvGrpSpPr>
          <p:grpSpPr>
            <a:xfrm>
              <a:off x="409344" y="4023710"/>
              <a:ext cx="2904085" cy="905910"/>
              <a:chOff x="409345" y="3916184"/>
              <a:chExt cx="2904085" cy="90591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807FEAD-1BD8-45FC-9AFB-AF8068ECE0B2}"/>
                  </a:ext>
                </a:extLst>
              </p:cNvPr>
              <p:cNvSpPr/>
              <p:nvPr/>
            </p:nvSpPr>
            <p:spPr>
              <a:xfrm>
                <a:off x="409345" y="3916184"/>
                <a:ext cx="2904085" cy="302596"/>
              </a:xfrm>
              <a:prstGeom prst="rect">
                <a:avLst/>
              </a:prstGeom>
              <a:solidFill>
                <a:srgbClr val="0075B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300" b="1" i="0" u="none" strike="noStrike" kern="1200" cap="none" spc="30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FORMATION 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628D85E-371E-49CD-9B0E-9FCBC44B1401}"/>
                  </a:ext>
                </a:extLst>
              </p:cNvPr>
              <p:cNvSpPr/>
              <p:nvPr/>
            </p:nvSpPr>
            <p:spPr>
              <a:xfrm>
                <a:off x="409345" y="4208448"/>
                <a:ext cx="2904085" cy="6136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171450" marR="0" lvl="0" indent="-171450" algn="l" defTabSz="6095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r-FR" sz="11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ESSEC Business </a:t>
                </a:r>
                <a:r>
                  <a:rPr kumimoji="0" lang="fr-FR" sz="11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school</a:t>
                </a:r>
                <a:r>
                  <a:rPr lang="fr-FR" sz="1100" b="1">
                    <a:solidFill>
                      <a:prstClr val="black"/>
                    </a:solidFill>
                    <a:latin typeface="Calibri" panose="020F0502020204030204"/>
                  </a:rPr>
                  <a:t> </a:t>
                </a:r>
                <a:r>
                  <a:rPr kumimoji="0" lang="fr-FR" sz="11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– </a:t>
                </a:r>
                <a:r>
                  <a:rPr kumimoji="0" lang="fr-FR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Master in Management </a:t>
                </a:r>
              </a:p>
              <a:p>
                <a:pPr marL="171450" marR="0" lvl="0" indent="-171450" algn="l" defTabSz="6095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r-FR" sz="11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EHTP </a:t>
                </a:r>
                <a:r>
                  <a:rPr kumimoji="0" lang="fr-FR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– Master in Engineering</a:t>
                </a:r>
              </a:p>
            </p:txBody>
          </p:sp>
        </p:grpSp>
        <p:pic>
          <p:nvPicPr>
            <p:cNvPr id="3" name="Graphique 2" descr="Toque d'étudiant">
              <a:extLst>
                <a:ext uri="{FF2B5EF4-FFF2-40B4-BE49-F238E27FC236}">
                  <a16:creationId xmlns:a16="http://schemas.microsoft.com/office/drawing/2014/main" id="{AD3C665D-D60C-7BFB-82D2-B7A9ADB50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963677" y="4043150"/>
              <a:ext cx="268910" cy="268910"/>
            </a:xfrm>
            <a:prstGeom prst="rect">
              <a:avLst/>
            </a:prstGeom>
          </p:spPr>
        </p:pic>
      </p:grpSp>
      <p:pic>
        <p:nvPicPr>
          <p:cNvPr id="22" name="Graphique 21" descr="Employé(e) de bureau">
            <a:extLst>
              <a:ext uri="{FF2B5EF4-FFF2-40B4-BE49-F238E27FC236}">
                <a16:creationId xmlns:a16="http://schemas.microsoft.com/office/drawing/2014/main" id="{94A7E6D8-ECFE-AA18-12B9-8B9FCB9DF394}"/>
              </a:ext>
            </a:extLst>
          </p:cNvPr>
          <p:cNvPicPr preferRelativeResize="0"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531564" y="1342867"/>
            <a:ext cx="241564" cy="241564"/>
          </a:xfrm>
          <a:prstGeom prst="rect">
            <a:avLst/>
          </a:prstGeom>
        </p:spPr>
      </p:pic>
      <p:sp>
        <p:nvSpPr>
          <p:cNvPr id="11" name="Titre 2">
            <a:extLst>
              <a:ext uri="{FF2B5EF4-FFF2-40B4-BE49-F238E27FC236}">
                <a16:creationId xmlns:a16="http://schemas.microsoft.com/office/drawing/2014/main" id="{D7FCA32D-0140-79F1-A7EE-06FBF1AFCC87}"/>
              </a:ext>
            </a:extLst>
          </p:cNvPr>
          <p:cNvSpPr txBox="1">
            <a:spLocks/>
          </p:cNvSpPr>
          <p:nvPr/>
        </p:nvSpPr>
        <p:spPr>
          <a:xfrm>
            <a:off x="413953" y="359060"/>
            <a:ext cx="11390580" cy="79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75B7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 err="1">
                <a:ln>
                  <a:noFill/>
                </a:ln>
                <a:solidFill>
                  <a:srgbClr val="0075B7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IsC</a:t>
            </a:r>
            <a:r>
              <a:rPr kumimoji="0" lang="fr-FR" sz="2800" b="0" i="0" u="none" strike="noStrike" kern="1200" cap="none" spc="0" normalizeH="0" baseline="0" noProof="0">
                <a:ln>
                  <a:noFill/>
                </a:ln>
                <a:solidFill>
                  <a:srgbClr val="0075B7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– Consultant senior – Stratégie Data &amp; IA 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29E2A0C3-3FD1-944D-4435-605045753F74}"/>
              </a:ext>
            </a:extLst>
          </p:cNvPr>
          <p:cNvGrpSpPr/>
          <p:nvPr/>
        </p:nvGrpSpPr>
        <p:grpSpPr>
          <a:xfrm>
            <a:off x="409344" y="1318852"/>
            <a:ext cx="2904086" cy="2661958"/>
            <a:chOff x="409344" y="1318852"/>
            <a:chExt cx="2904086" cy="266195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EB9AFF0-9BFB-40FE-B864-D7032CB0D6B9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09345" y="1318852"/>
              <a:ext cx="2904084" cy="302596"/>
            </a:xfrm>
            <a:prstGeom prst="rect">
              <a:avLst/>
            </a:prstGeom>
            <a:solidFill>
              <a:srgbClr val="0075B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300" b="1" i="0" u="none" strike="noStrike" kern="1200" cap="none" spc="30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COMPÉTENCES</a:t>
              </a:r>
            </a:p>
          </p:txBody>
        </p:sp>
        <p:pic>
          <p:nvPicPr>
            <p:cNvPr id="5" name="Graphique 4" descr="Stylo">
              <a:extLst>
                <a:ext uri="{FF2B5EF4-FFF2-40B4-BE49-F238E27FC236}">
                  <a16:creationId xmlns:a16="http://schemas.microsoft.com/office/drawing/2014/main" id="{51E41C90-ADEA-7613-BECC-64ED77D14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006920" y="1378938"/>
              <a:ext cx="182424" cy="182424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30664A1-77C5-263B-2976-F36084AFC509}"/>
                </a:ext>
              </a:extLst>
            </p:cNvPr>
            <p:cNvSpPr/>
            <p:nvPr/>
          </p:nvSpPr>
          <p:spPr>
            <a:xfrm>
              <a:off x="418871" y="2534190"/>
              <a:ext cx="2894559" cy="4864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OUTILS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Suite office </a:t>
              </a:r>
            </a:p>
            <a:p>
              <a:pPr marL="285750" marR="0" lvl="0" indent="-2857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Jira / Confluence</a:t>
              </a:r>
            </a:p>
            <a:p>
              <a:pPr marL="285750" marR="0" lvl="0" indent="-2857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fr-FR" sz="1100" b="0" noProof="0">
                  <a:solidFill>
                    <a:prstClr val="black"/>
                  </a:solidFill>
                  <a:latin typeface="Calibri" panose="020F0502020204030204"/>
                </a:rPr>
                <a:t>M</a:t>
              </a:r>
              <a:r>
                <a:rPr lang="fr-FR" sz="1100" err="1">
                  <a:solidFill>
                    <a:prstClr val="black"/>
                  </a:solidFill>
                  <a:latin typeface="Calibri" panose="020F0502020204030204"/>
                </a:rPr>
                <a:t>achine</a:t>
              </a:r>
              <a:r>
                <a:rPr lang="fr-FR" sz="1100">
                  <a:solidFill>
                    <a:prstClr val="black"/>
                  </a:solidFill>
                  <a:latin typeface="Calibri" panose="020F0502020204030204"/>
                </a:rPr>
                <a:t> &amp; Deep </a:t>
              </a:r>
              <a:r>
                <a:rPr lang="fr-FR" sz="1100" err="1">
                  <a:solidFill>
                    <a:prstClr val="black"/>
                  </a:solidFill>
                  <a:latin typeface="Calibri" panose="020F0502020204030204"/>
                </a:rPr>
                <a:t>learning</a:t>
              </a:r>
              <a:endParaRPr lang="fr-FR" sz="1100" b="0" noProof="0">
                <a:solidFill>
                  <a:prstClr val="black"/>
                </a:solidFill>
                <a:latin typeface="Calibri" panose="020F0502020204030204"/>
              </a:endParaRPr>
            </a:p>
            <a:p>
              <a:pPr marL="285750" marR="0" lvl="0" indent="-2857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0C0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fr-FR" sz="14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fr-F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fr-F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fr-F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fr-F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F8A0D98-3696-590A-7A46-A4550CF53780}"/>
                </a:ext>
              </a:extLst>
            </p:cNvPr>
            <p:cNvSpPr/>
            <p:nvPr/>
          </p:nvSpPr>
          <p:spPr>
            <a:xfrm>
              <a:off x="418871" y="3205329"/>
              <a:ext cx="2894559" cy="7754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LANGUES</a:t>
              </a:r>
              <a:r>
                <a:rPr kumimoji="0" lang="fr-FR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  <a:p>
              <a:pPr marL="171450" marR="0" lvl="0" indent="-171450" algn="l" defTabSz="514321" rtl="0" eaLnBrk="1" fontAlgn="auto" latinLnBrk="0" hangingPunct="1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5B7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Français :  </a:t>
              </a:r>
              <a:r>
                <a:rPr kumimoji="0" lang="fr-FR" sz="1100" b="0" i="0" u="none" strike="noStrike" kern="1200" cap="none" spc="0" normalizeH="0" baseline="0" noProof="0">
                  <a:ln>
                    <a:noFill/>
                  </a:ln>
                  <a:solidFill>
                    <a:srgbClr val="00D16C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Wingdings" panose="05000000000000000000" pitchFamily="2" charset="2"/>
                </a:rPr>
                <a:t></a:t>
              </a:r>
            </a:p>
            <a:p>
              <a:pPr marL="171450" marR="0" lvl="0" indent="-171450" algn="l" defTabSz="514321" rtl="0" eaLnBrk="1" fontAlgn="auto" latinLnBrk="0" hangingPunct="1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5B7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Anglais :    </a:t>
              </a:r>
              <a:r>
                <a:rPr kumimoji="0" lang="fr-FR" sz="1100" b="0" i="0" u="none" strike="noStrike" kern="1200" cap="none" spc="0" normalizeH="0" baseline="0" noProof="0">
                  <a:ln>
                    <a:noFill/>
                  </a:ln>
                  <a:solidFill>
                    <a:srgbClr val="00D16C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Wingdings" panose="05000000000000000000" pitchFamily="2" charset="2"/>
                </a:rPr>
                <a:t></a:t>
              </a:r>
            </a:p>
            <a:p>
              <a:pPr marL="171450" marR="0" lvl="0" indent="-171450" algn="l" defTabSz="514321" rtl="0" eaLnBrk="1" fontAlgn="auto" latinLnBrk="0" hangingPunct="1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75B7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fr-FR" sz="1100">
                  <a:solidFill>
                    <a:prstClr val="black"/>
                  </a:solidFill>
                  <a:latin typeface="Calibri" panose="020F0502020204030204"/>
                  <a:sym typeface="Wingdings" panose="05000000000000000000" pitchFamily="2" charset="2"/>
                </a:rPr>
                <a:t>Arabe</a:t>
              </a:r>
              <a:r>
                <a:rPr kumimoji="0" lang="fr-FR" sz="1100" b="0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Wingdings" panose="05000000000000000000" pitchFamily="2" charset="2"/>
                </a:rPr>
                <a:t> </a:t>
              </a:r>
              <a:r>
                <a:rPr kumimoji="0" lang="fr-F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Wingdings" panose="05000000000000000000" pitchFamily="2" charset="2"/>
                </a:rPr>
                <a:t>:      </a:t>
              </a:r>
              <a:r>
                <a:rPr kumimoji="0" lang="fr-FR" sz="1100" b="0" i="0" u="none" strike="noStrike" kern="1200" cap="none" spc="0" normalizeH="0" baseline="0" noProof="0">
                  <a:ln>
                    <a:noFill/>
                  </a:ln>
                  <a:solidFill>
                    <a:srgbClr val="00D16C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Wingdings" panose="05000000000000000000" pitchFamily="2" charset="2"/>
                </a:rPr>
                <a:t></a:t>
              </a:r>
            </a:p>
            <a:p>
              <a:pPr marL="171450" indent="-171450" defTabSz="514321">
                <a:lnSpc>
                  <a:spcPts val="1100"/>
                </a:lnSpc>
                <a:buClr>
                  <a:srgbClr val="0075B7"/>
                </a:buClr>
                <a:buFont typeface="Arial" panose="020B0604020202020204" pitchFamily="34" charset="0"/>
                <a:buChar char="•"/>
                <a:defRPr/>
              </a:pPr>
              <a:r>
                <a:rPr lang="fr-FR" sz="1100">
                  <a:solidFill>
                    <a:prstClr val="black"/>
                  </a:solidFill>
                  <a:latin typeface="Calibri" panose="020F0502020204030204"/>
                  <a:sym typeface="Wingdings" panose="05000000000000000000" pitchFamily="2" charset="2"/>
                </a:rPr>
                <a:t>Espagnol</a:t>
              </a:r>
              <a:r>
                <a:rPr kumimoji="0" lang="fr-FR" sz="1100" b="0" i="0" u="none" strike="noStrike" kern="120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Wingdings" panose="05000000000000000000" pitchFamily="2" charset="2"/>
                </a:rPr>
                <a:t> </a:t>
              </a:r>
              <a:r>
                <a:rPr kumimoji="0" lang="fr-FR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Wingdings" panose="05000000000000000000" pitchFamily="2" charset="2"/>
                </a:rPr>
                <a:t>: </a:t>
              </a:r>
              <a:r>
                <a:rPr kumimoji="0" lang="fr-FR" sz="1100" b="0" i="0" u="none" strike="noStrike" kern="1200" cap="none" spc="0" normalizeH="0" baseline="0" noProof="0">
                  <a:ln>
                    <a:noFill/>
                  </a:ln>
                  <a:solidFill>
                    <a:srgbClr val="00D16C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Wingdings" panose="05000000000000000000" pitchFamily="2" charset="2"/>
                </a:rPr>
                <a:t></a:t>
              </a:r>
              <a:r>
                <a:rPr kumimoji="0" lang="fr-FR" sz="1100" b="0" i="0" u="none" strike="noStrike" kern="1200" cap="none" spc="0" normalizeH="0" baseline="0" noProof="0">
                  <a:ln>
                    <a:noFill/>
                  </a:ln>
                  <a:solidFill>
                    <a:srgbClr val="FE5F55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sym typeface="Wingdings" panose="05000000000000000000" pitchFamily="2" charset="2"/>
                </a:rPr>
                <a:t></a:t>
              </a:r>
              <a:endParaRPr kumimoji="0" lang="fr-F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fr-F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DDED38A-64B7-9BCA-16CC-03B7CE7CF805}"/>
                </a:ext>
              </a:extLst>
            </p:cNvPr>
            <p:cNvSpPr/>
            <p:nvPr/>
          </p:nvSpPr>
          <p:spPr>
            <a:xfrm>
              <a:off x="409345" y="1656282"/>
              <a:ext cx="1332000" cy="144000"/>
            </a:xfrm>
            <a:prstGeom prst="rect">
              <a:avLst/>
            </a:prstGeom>
            <a:solidFill>
              <a:srgbClr val="00D1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AI STRATEGY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688AFF0-F64A-320C-805A-2C1E2EC7D4FC}"/>
                </a:ext>
              </a:extLst>
            </p:cNvPr>
            <p:cNvSpPr/>
            <p:nvPr/>
          </p:nvSpPr>
          <p:spPr>
            <a:xfrm>
              <a:off x="409345" y="1829304"/>
              <a:ext cx="1487240" cy="144000"/>
            </a:xfrm>
            <a:prstGeom prst="rect">
              <a:avLst/>
            </a:prstGeom>
            <a:solidFill>
              <a:srgbClr val="00D1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PILOTAGE DE PROJETS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822D551-6B5A-B2D0-AC78-9CA5FA0B7713}"/>
                </a:ext>
              </a:extLst>
            </p:cNvPr>
            <p:cNvSpPr/>
            <p:nvPr/>
          </p:nvSpPr>
          <p:spPr>
            <a:xfrm>
              <a:off x="1795784" y="1656282"/>
              <a:ext cx="1422448" cy="144000"/>
            </a:xfrm>
            <a:prstGeom prst="rect">
              <a:avLst/>
            </a:prstGeom>
            <a:solidFill>
              <a:srgbClr val="00D1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GENERATIVE AI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F3EDA6A-823C-6752-FAC5-656639244329}"/>
                </a:ext>
              </a:extLst>
            </p:cNvPr>
            <p:cNvSpPr/>
            <p:nvPr/>
          </p:nvSpPr>
          <p:spPr>
            <a:xfrm>
              <a:off x="1989253" y="1829304"/>
              <a:ext cx="492957" cy="144000"/>
            </a:xfrm>
            <a:prstGeom prst="rect">
              <a:avLst/>
            </a:prstGeom>
            <a:solidFill>
              <a:srgbClr val="00D1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SCRUM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AD3829F-0C34-8E9F-A3DB-B0E98F6908C3}"/>
                </a:ext>
              </a:extLst>
            </p:cNvPr>
            <p:cNvSpPr/>
            <p:nvPr/>
          </p:nvSpPr>
          <p:spPr>
            <a:xfrm>
              <a:off x="409344" y="2017107"/>
              <a:ext cx="1446550" cy="144000"/>
            </a:xfrm>
            <a:prstGeom prst="rect">
              <a:avLst/>
            </a:prstGeom>
            <a:solidFill>
              <a:srgbClr val="00D1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METHODOLOGIE AGILE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6C33A9B-F71C-10C4-C8DE-577834D30974}"/>
                </a:ext>
              </a:extLst>
            </p:cNvPr>
            <p:cNvSpPr/>
            <p:nvPr/>
          </p:nvSpPr>
          <p:spPr>
            <a:xfrm>
              <a:off x="409345" y="2194975"/>
              <a:ext cx="1331043" cy="144000"/>
            </a:xfrm>
            <a:prstGeom prst="rect">
              <a:avLst/>
            </a:prstGeom>
            <a:solidFill>
              <a:srgbClr val="00D1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BUSINESS INTELLIGENCE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5338443-FCE2-E2E3-29BE-C879E6499036}"/>
                </a:ext>
              </a:extLst>
            </p:cNvPr>
            <p:cNvSpPr/>
            <p:nvPr/>
          </p:nvSpPr>
          <p:spPr>
            <a:xfrm>
              <a:off x="1795785" y="2198316"/>
              <a:ext cx="1422448" cy="144000"/>
            </a:xfrm>
            <a:prstGeom prst="rect">
              <a:avLst/>
            </a:prstGeom>
            <a:solidFill>
              <a:srgbClr val="00D1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CONDUITE DU CHANGEMENT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1F24B8A-31A9-52BF-AA94-7132100BD174}"/>
                </a:ext>
              </a:extLst>
            </p:cNvPr>
            <p:cNvSpPr/>
            <p:nvPr/>
          </p:nvSpPr>
          <p:spPr>
            <a:xfrm>
              <a:off x="409345" y="2377708"/>
              <a:ext cx="1998396" cy="144000"/>
            </a:xfrm>
            <a:prstGeom prst="rect">
              <a:avLst/>
            </a:prstGeom>
            <a:solidFill>
              <a:srgbClr val="00D1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DEPLOIEMENT DE SOLUTIONS DIGITALES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7061B97-F6E5-7B04-BF83-7DAA7DE9DB56}"/>
                </a:ext>
              </a:extLst>
            </p:cNvPr>
            <p:cNvSpPr/>
            <p:nvPr/>
          </p:nvSpPr>
          <p:spPr>
            <a:xfrm>
              <a:off x="1910323" y="2017107"/>
              <a:ext cx="1307909" cy="144000"/>
            </a:xfrm>
            <a:prstGeom prst="rect">
              <a:avLst/>
            </a:prstGeom>
            <a:solidFill>
              <a:srgbClr val="00D1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PRODUCT MANAGMENT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CD232F8-EDBD-2F33-DA70-7FA58F1DA3F2}"/>
                </a:ext>
              </a:extLst>
            </p:cNvPr>
            <p:cNvSpPr/>
            <p:nvPr/>
          </p:nvSpPr>
          <p:spPr>
            <a:xfrm>
              <a:off x="2592629" y="1829304"/>
              <a:ext cx="625603" cy="144000"/>
            </a:xfrm>
            <a:prstGeom prst="rect">
              <a:avLst/>
            </a:prstGeom>
            <a:solidFill>
              <a:srgbClr val="00D1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PO</a:t>
              </a:r>
            </a:p>
          </p:txBody>
        </p:sp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0D60B6CB-EDD8-6DD4-DA6B-CF40E621C2EB}"/>
              </a:ext>
            </a:extLst>
          </p:cNvPr>
          <p:cNvGrpSpPr/>
          <p:nvPr/>
        </p:nvGrpSpPr>
        <p:grpSpPr>
          <a:xfrm>
            <a:off x="403851" y="5118509"/>
            <a:ext cx="2904085" cy="1293751"/>
            <a:chOff x="409345" y="5170408"/>
            <a:chExt cx="2904085" cy="1293751"/>
          </a:xfrm>
        </p:grpSpPr>
        <p:pic>
          <p:nvPicPr>
            <p:cNvPr id="33" name="Picture 8" descr="Schéma de gouvernance et organisation de la SGAM Matmut">
              <a:extLst>
                <a:ext uri="{FF2B5EF4-FFF2-40B4-BE49-F238E27FC236}">
                  <a16:creationId xmlns:a16="http://schemas.microsoft.com/office/drawing/2014/main" id="{5D62872F-D1A9-4847-B8BA-426C7F2911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7127" y="5613721"/>
              <a:ext cx="77820" cy="457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Graphique 24" descr="Évaluation">
              <a:extLst>
                <a:ext uri="{FF2B5EF4-FFF2-40B4-BE49-F238E27FC236}">
                  <a16:creationId xmlns:a16="http://schemas.microsoft.com/office/drawing/2014/main" id="{97AB118B-7A59-4A40-5158-AE2815AE2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963677" y="5185086"/>
              <a:ext cx="268910" cy="268910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579393E-60F5-4803-9ACE-D199694730BB}"/>
                </a:ext>
              </a:extLst>
            </p:cNvPr>
            <p:cNvSpPr/>
            <p:nvPr/>
          </p:nvSpPr>
          <p:spPr>
            <a:xfrm>
              <a:off x="409345" y="5170408"/>
              <a:ext cx="2904085" cy="302596"/>
            </a:xfrm>
            <a:prstGeom prst="rect">
              <a:avLst/>
            </a:prstGeom>
            <a:solidFill>
              <a:srgbClr val="0075B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300" b="1" i="0" u="none" strike="noStrike" kern="1200" cap="none" spc="30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RÉFÉRENCES</a:t>
              </a:r>
            </a:p>
          </p:txBody>
        </p:sp>
        <p:pic>
          <p:nvPicPr>
            <p:cNvPr id="24" name="Picture 2" descr="Saint Charles International">
              <a:extLst>
                <a:ext uri="{FF2B5EF4-FFF2-40B4-BE49-F238E27FC236}">
                  <a16:creationId xmlns:a16="http://schemas.microsoft.com/office/drawing/2014/main" id="{3167CB72-A5CB-AE58-6CC9-F4A8978A0A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3202" y="5531814"/>
              <a:ext cx="877293" cy="402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4" descr="Allianz Technology | VCEE Virginia Council on Economic Education">
              <a:extLst>
                <a:ext uri="{FF2B5EF4-FFF2-40B4-BE49-F238E27FC236}">
                  <a16:creationId xmlns:a16="http://schemas.microsoft.com/office/drawing/2014/main" id="{01E396E4-FDD8-F06C-DB9A-880EF13FBD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8710" y="5543159"/>
              <a:ext cx="559134" cy="3802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Accueil - Groupe Audiens">
              <a:extLst>
                <a:ext uri="{FF2B5EF4-FFF2-40B4-BE49-F238E27FC236}">
                  <a16:creationId xmlns:a16="http://schemas.microsoft.com/office/drawing/2014/main" id="{765060FB-290A-9B5A-20C2-AFFA4B4ED3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4315" y="5581911"/>
              <a:ext cx="539115" cy="283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Ramsay Santé — Wikipédia">
              <a:extLst>
                <a:ext uri="{FF2B5EF4-FFF2-40B4-BE49-F238E27FC236}">
                  <a16:creationId xmlns:a16="http://schemas.microsoft.com/office/drawing/2014/main" id="{CB5C8D02-D28D-0223-B917-6DBFC1B7BB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9972" y="5845017"/>
              <a:ext cx="642216" cy="6191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Hermes Logo : histoire, signification de l'emblème">
              <a:extLst>
                <a:ext uri="{FF2B5EF4-FFF2-40B4-BE49-F238E27FC236}">
                  <a16:creationId xmlns:a16="http://schemas.microsoft.com/office/drawing/2014/main" id="{E502ABC6-DF67-EAB2-AB2E-D7B372560F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2623" y="5967850"/>
              <a:ext cx="663959" cy="3734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367400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heme/theme1.xml><?xml version="1.0" encoding="utf-8"?>
<a:theme xmlns:a="http://schemas.openxmlformats.org/drawingml/2006/main" name="1_Thème Office">
  <a:themeElements>
    <a:clrScheme name="AI BUILDERS">
      <a:dk1>
        <a:sysClr val="windowText" lastClr="000000"/>
      </a:dk1>
      <a:lt1>
        <a:sysClr val="window" lastClr="FFFFFF"/>
      </a:lt1>
      <a:dk2>
        <a:srgbClr val="024059"/>
      </a:dk2>
      <a:lt2>
        <a:srgbClr val="B4B3B3"/>
      </a:lt2>
      <a:accent1>
        <a:srgbClr val="004E98"/>
      </a:accent1>
      <a:accent2>
        <a:srgbClr val="0075B7"/>
      </a:accent2>
      <a:accent3>
        <a:srgbClr val="049DD9"/>
      </a:accent3>
      <a:accent4>
        <a:srgbClr val="04B2D9"/>
      </a:accent4>
      <a:accent5>
        <a:srgbClr val="ABDFFF"/>
      </a:accent5>
      <a:accent6>
        <a:srgbClr val="FE5F55"/>
      </a:accent6>
      <a:hlink>
        <a:srgbClr val="00D16C"/>
      </a:hlink>
      <a:folHlink>
        <a:srgbClr val="F7C543"/>
      </a:folHlink>
    </a:clrScheme>
    <a:fontScheme name="AI BUILDER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</a:spPr>
      <a:bodyPr rtlCol="0" anchor="ctr"/>
      <a:lstStyle>
        <a:defPPr algn="l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200"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I Builders - Template PPT - Janv 2021" id="{A7D3FB52-EFDF-416E-94BF-CD497BB0FD0A}" vid="{0C57340A-AD9A-433B-BF29-0039549D56C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c28a347b-5b2b-44f9-8d85-6c21dedcf95d" xsi:nil="true"/>
    <TaxCatchAll xmlns="55fdc067-7055-4842-b172-d0789f6b46b2" xsi:nil="true"/>
    <lcf76f155ced4ddcb4097134ff3c332f xmlns="c28a347b-5b2b-44f9-8d85-6c21dedcf95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1EBB1DB8D7CE4C96ED4BF17960A42D" ma:contentTypeVersion="20" ma:contentTypeDescription="Crée un document." ma:contentTypeScope="" ma:versionID="691b49e1087f8ee11d2c4c4ae3ca5fb8">
  <xsd:schema xmlns:xsd="http://www.w3.org/2001/XMLSchema" xmlns:xs="http://www.w3.org/2001/XMLSchema" xmlns:p="http://schemas.microsoft.com/office/2006/metadata/properties" xmlns:ns2="c28a347b-5b2b-44f9-8d85-6c21dedcf95d" xmlns:ns3="55fdc067-7055-4842-b172-d0789f6b46b2" targetNamespace="http://schemas.microsoft.com/office/2006/metadata/properties" ma:root="true" ma:fieldsID="af59c3c57e4828e30b9d5a3828f3272e" ns2:_="" ns3:_="">
    <xsd:import namespace="c28a347b-5b2b-44f9-8d85-6c21dedcf95d"/>
    <xsd:import namespace="55fdc067-7055-4842-b172-d0789f6b46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_Flow_Signoff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8a347b-5b2b-44f9-8d85-6c21dedcf9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cc5844d7-e0c4-44af-8d4f-031b09cdb7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6" nillable="true" ma:displayName="État de validation" ma:internalName="_x00c9_tat_x0020_de_x0020_validation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fdc067-7055-4842-b172-d0789f6b46b2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1c30604-2f56-4022-8160-e355b33a290b}" ma:internalName="TaxCatchAll" ma:showField="CatchAllData" ma:web="55fdc067-7055-4842-b172-d0789f6b46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675E47-3654-4AA6-B2B4-620789F90DE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A06173-66E5-4038-8091-0E01BFFFACD4}">
  <ds:schemaRefs>
    <ds:schemaRef ds:uri="55fdc067-7055-4842-b172-d0789f6b46b2"/>
    <ds:schemaRef ds:uri="c28a347b-5b2b-44f9-8d85-6c21dedcf95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6BD4242-3B15-4AA9-BAFB-E3F03C54BE23}">
  <ds:schemaRefs>
    <ds:schemaRef ds:uri="55fdc067-7055-4842-b172-d0789f6b46b2"/>
    <ds:schemaRef ds:uri="c28a347b-5b2b-44f9-8d85-6c21dedcf9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601</Words>
  <Application>Microsoft Office PowerPoint</Application>
  <PresentationFormat>Widescreen</PresentationFormat>
  <Paragraphs>60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Wingdings</vt:lpstr>
      <vt:lpstr>1_Thème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Ismail Chanaa</dc:creator>
  <cp:lastModifiedBy>Ismail Chanaa</cp:lastModifiedBy>
  <cp:revision>1</cp:revision>
  <dcterms:created xsi:type="dcterms:W3CDTF">2025-02-24T08:45:59Z</dcterms:created>
  <dcterms:modified xsi:type="dcterms:W3CDTF">2025-04-04T08:38:18Z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0x0101003E1EBB1DB8D7CE4C96ED4BF17960A42D</vt:lpwstr>
  </property>
  <property fmtid="{D5CDD505-2E9C-101B-9397-08002B2CF9AE}" pid="3" name="MediaServiceImageTags">
    <vt:lpwstr/>
  </property>
</Properties>
</file>