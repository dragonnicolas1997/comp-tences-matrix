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6846893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5F1D8-4B50-4D4E-A711-1BEC6C486354}" v="2" dt="2026-02-04T15:36:20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1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Levi" userId="8a72db62-3381-4d6c-a108-f1cf473e42b3" providerId="ADAL" clId="{DE2BB371-497D-4C79-A616-C646134F83CF}"/>
    <pc:docChg chg="addSld delSld modSld">
      <pc:chgData name="Nicolas Levi" userId="8a72db62-3381-4d6c-a108-f1cf473e42b3" providerId="ADAL" clId="{DE2BB371-497D-4C79-A616-C646134F83CF}" dt="2026-02-04T15:36:29.351" v="6" actId="207"/>
      <pc:docMkLst>
        <pc:docMk/>
      </pc:docMkLst>
      <pc:sldChg chg="modSp del mod">
        <pc:chgData name="Nicolas Levi" userId="8a72db62-3381-4d6c-a108-f1cf473e42b3" providerId="ADAL" clId="{DE2BB371-497D-4C79-A616-C646134F83CF}" dt="2026-02-04T11:19:57.081" v="3" actId="47"/>
        <pc:sldMkLst>
          <pc:docMk/>
          <pc:sldMk cId="590104155" sldId="2146846890"/>
        </pc:sldMkLst>
        <pc:spChg chg="mod">
          <ac:chgData name="Nicolas Levi" userId="8a72db62-3381-4d6c-a108-f1cf473e42b3" providerId="ADAL" clId="{DE2BB371-497D-4C79-A616-C646134F83CF}" dt="2026-02-04T10:21:02.315" v="1" actId="207"/>
          <ac:spMkLst>
            <pc:docMk/>
            <pc:sldMk cId="590104155" sldId="2146846890"/>
            <ac:spMk id="3" creationId="{C8B2D658-5F3F-2B57-0243-997E9C617FBF}"/>
          </ac:spMkLst>
        </pc:spChg>
      </pc:sldChg>
      <pc:sldChg chg="add del">
        <pc:chgData name="Nicolas Levi" userId="8a72db62-3381-4d6c-a108-f1cf473e42b3" providerId="ADAL" clId="{DE2BB371-497D-4C79-A616-C646134F83CF}" dt="2026-02-04T15:36:23.889" v="5" actId="47"/>
        <pc:sldMkLst>
          <pc:docMk/>
          <pc:sldMk cId="1822759624" sldId="2146846892"/>
        </pc:sldMkLst>
      </pc:sldChg>
      <pc:sldChg chg="modSp add mod">
        <pc:chgData name="Nicolas Levi" userId="8a72db62-3381-4d6c-a108-f1cf473e42b3" providerId="ADAL" clId="{DE2BB371-497D-4C79-A616-C646134F83CF}" dt="2026-02-04T15:36:29.351" v="6" actId="207"/>
        <pc:sldMkLst>
          <pc:docMk/>
          <pc:sldMk cId="3095722208" sldId="2146846893"/>
        </pc:sldMkLst>
        <pc:spChg chg="mod">
          <ac:chgData name="Nicolas Levi" userId="8a72db62-3381-4d6c-a108-f1cf473e42b3" providerId="ADAL" clId="{DE2BB371-497D-4C79-A616-C646134F83CF}" dt="2026-02-04T15:36:29.351" v="6" actId="207"/>
          <ac:spMkLst>
            <pc:docMk/>
            <pc:sldMk cId="3095722208" sldId="2146846893"/>
            <ac:spMk id="3" creationId="{A21EECA0-35C7-A31D-EB41-0534ED67AA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2CA85-7056-453C-9871-07D953F95FB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3DECE-1F40-4940-B289-8A728F8E1E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997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C402E-D9D1-2A62-4199-A51D83D2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7B87E7A-35BA-D8FE-8DB3-CD924E772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45B1EF-FD5C-8A20-52F4-708CEB84B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54C53A-E779-18C9-4816-30AB02710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3E5E54-7022-4016-B5B5-C9AB4094400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3543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77496-5F37-418A-554E-2B7120730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359A11-B029-3FDE-D4C4-0AF5CDB37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BEA973-93DD-C881-FA81-2DC4539B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11C5E1-3BE0-5347-11CC-E9456EA9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2D97A2-2BE7-6E85-1329-A256A131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23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156CBB-1A62-1AC2-0CF1-BD248A3E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646C6A-D550-73A0-06E9-1AFD4C51F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9CAC5-7BE3-94AE-DCA9-594C416D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20C50C-575C-680E-A208-5A18500B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194069-0022-E9C5-4AFC-20156999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802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DCA2E4-8A2D-949B-46A5-1EF54C208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F628B6-2A69-95F6-6FD6-D217179A2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D4A112-9BFC-4E7D-947E-3CD92BF16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E9B847-5B33-92FC-4F26-CE1728EC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348AC7-6FC3-1110-6E39-1CF20398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93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032FF-E9D0-2495-61FF-FF2FB4975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203EB7-2262-C620-1853-9A718641D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0579AA-BBA3-E9BC-9E68-C6C0AC6BE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2AC745-13A4-285B-223D-0BE915B1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698FC8-0EB3-CD62-813E-BC6344E53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5BCC7B-1305-213D-52F6-75CC7D50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14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7243D-CFBC-8AF8-31B9-B23CE7C2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74504A-02D1-FE7D-8260-E2A9A8CAF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6D42DE-6FAE-C8D1-9AE1-1F1B8E366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E3730CB-1605-B3C8-FFBA-BB03398B0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ACAD3F7-52D8-76BA-F388-77F4E9B4F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08C6E39-18BA-24B5-9FA3-AEF641C87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A30B21B-E9CD-F0A6-BB77-531E807D7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B5C654-5EF5-1613-0F03-03E41C6A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16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7C2E9D-4831-51E9-D68B-18AF5483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547B6A-F67C-9142-1E47-77CD3F72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714AFF-AAF4-B78C-611E-B1512C62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A9FCBB-AA52-9588-91DC-CB4ADA51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895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74A0EB0-4870-21CF-0931-9FD2CB49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4FABCA4-892D-AA64-0100-142AB19B0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7E5200-A10D-0953-2423-BC133040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63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A27209-CD68-8E74-B3B8-80BF099B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5F4A2E-A783-3E6A-F5B5-6275AD9B5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F1ADE5-EC57-7CDF-6E1D-818603DB2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BD8161-892F-714A-E6E0-D91D6CCA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264B6A-EAAD-3D70-308C-CCAD2BA8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70909F-5AB2-174D-C52E-F612F405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40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383CD-4A2F-9331-B495-02B831FA9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A4F9503-50DF-9E51-B922-A2D43D92E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98B25C-4660-8CF7-D1ED-21BB0BA3E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717245-D60C-48E5-AACF-99B0BE01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876CB9-792D-FC50-9687-36EBDE14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C29E8B-64FC-D804-5608-50EB8D92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31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42ECA-AC2F-4F4F-48C2-17328F29F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DA7EEEF-A8C5-B8DB-9481-89CB66ECA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5A8D02-0191-E61C-67B6-A0636830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84BDAD-8F7F-3ABE-7192-DA0047F7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037144-E760-6E81-65B0-BF89D3FC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38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E328F8F-B4A1-5B2C-6A37-43C5F0F84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C30FAE7-E192-DE75-9989-DCED5DD6C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491272-6D72-E829-1155-7AC47F6F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B39183-1E5B-0250-876C-D5AE16F4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2960E3-E731-7953-1AAC-BA9792CD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2835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00ABB90-0393-45DA-8F07-2B327BE843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BA630DD8-654C-CA4E-A1DC-BCC002181F2E}" type="slidenum">
              <a:rPr lang="fr-FR" smtClean="0"/>
              <a:pPr algn="r"/>
              <a:t>‹N°›</a:t>
            </a:fld>
            <a:endParaRPr lang="fr-FR"/>
          </a:p>
        </p:txBody>
      </p:sp>
      <p:sp>
        <p:nvSpPr>
          <p:cNvPr id="4" name="Espace réservé du titre 1">
            <a:extLst>
              <a:ext uri="{FF2B5EF4-FFF2-40B4-BE49-F238E27FC236}">
                <a16:creationId xmlns:a16="http://schemas.microsoft.com/office/drawing/2014/main" id="{FFCA3372-0A17-4035-B8BF-98145FC8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07" y="359060"/>
            <a:ext cx="11427226" cy="79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060764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BF6BC0D-41A9-EAE8-CA71-356700F62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D390AE-2022-AC05-F444-6DDB5F4C2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62B1FE-E305-61AA-844A-2C524536B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70DA1-E723-4D39-91BF-7671464C7230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D6FEDC-A85F-5966-D0CA-C1C86557E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0C4095-410E-1DB8-B3DC-DAE792177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CCD13-30C6-42A7-BF9F-45D7F613B2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58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50A5-86EF-B62E-3F1D-220DCCFE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017EDE8-544B-A4FA-DD9B-E3E230713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630DD8-654C-CA4E-A1DC-BCC002181F2E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21EECA0-35C7-A31D-EB41-0534ED67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70" y="323748"/>
            <a:ext cx="8213800" cy="792000"/>
          </a:xfrm>
        </p:spPr>
        <p:txBody>
          <a:bodyPr/>
          <a:lstStyle/>
          <a:p>
            <a:r>
              <a:rPr lang="fr-FR" sz="3200" dirty="0">
                <a:solidFill>
                  <a:srgbClr val="0070C0"/>
                </a:solidFill>
              </a:rPr>
              <a:t>NLE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sz="2400" b="0" i="1" dirty="0">
                <a:solidFill>
                  <a:srgbClr val="0070C0"/>
                </a:solidFill>
              </a:rPr>
              <a:t>Consultant Confirmé en stratégie Data &amp; IA - 4 ans d’expérience</a:t>
            </a:r>
            <a:endParaRPr lang="fr-FR" b="0" i="1" dirty="0">
              <a:solidFill>
                <a:srgbClr val="0070C0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BD49FE-6BB6-CCB3-4527-8232A0559FD4}"/>
              </a:ext>
            </a:extLst>
          </p:cNvPr>
          <p:cNvSpPr/>
          <p:nvPr/>
        </p:nvSpPr>
        <p:spPr>
          <a:xfrm>
            <a:off x="3432205" y="1318852"/>
            <a:ext cx="8340923" cy="289595"/>
          </a:xfrm>
          <a:prstGeom prst="rect">
            <a:avLst/>
          </a:prstGeom>
          <a:solidFill>
            <a:srgbClr val="0075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514321">
              <a:defRPr/>
            </a:pPr>
            <a:r>
              <a:rPr lang="fr-FR" sz="1300" b="1" spc="30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QUELQUES EXPÉRIENCES PERTINENTES</a:t>
            </a:r>
          </a:p>
        </p:txBody>
      </p:sp>
      <p:pic>
        <p:nvPicPr>
          <p:cNvPr id="37" name="Graphique 36" descr="Employé(e) de bureau">
            <a:extLst>
              <a:ext uri="{FF2B5EF4-FFF2-40B4-BE49-F238E27FC236}">
                <a16:creationId xmlns:a16="http://schemas.microsoft.com/office/drawing/2014/main" id="{D1241477-851E-1D9D-503D-B7A16C119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88459" y="1342867"/>
            <a:ext cx="241565" cy="2415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934A05-D8B2-EB2C-0E99-3825D1935643}"/>
              </a:ext>
            </a:extLst>
          </p:cNvPr>
          <p:cNvSpPr/>
          <p:nvPr/>
        </p:nvSpPr>
        <p:spPr>
          <a:xfrm>
            <a:off x="377307" y="1318852"/>
            <a:ext cx="2904084" cy="302596"/>
          </a:xfrm>
          <a:prstGeom prst="rect">
            <a:avLst/>
          </a:prstGeom>
          <a:solidFill>
            <a:srgbClr val="0075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COMPÉTENCES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66197-E508-2B84-6F7B-83D2326CE0A9}"/>
              </a:ext>
            </a:extLst>
          </p:cNvPr>
          <p:cNvSpPr/>
          <p:nvPr/>
        </p:nvSpPr>
        <p:spPr>
          <a:xfrm>
            <a:off x="372389" y="3235697"/>
            <a:ext cx="2904085" cy="302596"/>
          </a:xfrm>
          <a:prstGeom prst="rect">
            <a:avLst/>
          </a:prstGeom>
          <a:solidFill>
            <a:srgbClr val="0075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38960E-527A-D593-C989-7B3C38D976B1}"/>
              </a:ext>
            </a:extLst>
          </p:cNvPr>
          <p:cNvSpPr/>
          <p:nvPr/>
        </p:nvSpPr>
        <p:spPr>
          <a:xfrm>
            <a:off x="372389" y="3502021"/>
            <a:ext cx="2904085" cy="1331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100" b="1" err="1">
                <a:solidFill>
                  <a:prstClr val="black"/>
                </a:solidFill>
                <a:latin typeface="Calibri" panose="020F0502020204030204"/>
              </a:rPr>
              <a:t>Isae</a:t>
            </a:r>
            <a:r>
              <a:rPr lang="fr-FR" sz="1100" b="1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fr-FR" sz="1100" b="1" err="1">
                <a:solidFill>
                  <a:prstClr val="black"/>
                </a:solidFill>
                <a:latin typeface="Calibri" panose="020F0502020204030204"/>
              </a:rPr>
              <a:t>Supaero</a:t>
            </a:r>
            <a:r>
              <a:rPr lang="fr-FR" sz="1100" b="1">
                <a:solidFill>
                  <a:prstClr val="black"/>
                </a:solidFill>
                <a:latin typeface="Calibri" panose="020F0502020204030204"/>
              </a:rPr>
              <a:t> engineering </a:t>
            </a:r>
            <a:r>
              <a:rPr lang="fr-FR" sz="1100" b="1" err="1">
                <a:solidFill>
                  <a:prstClr val="black"/>
                </a:solidFill>
                <a:latin typeface="Calibri" panose="020F0502020204030204"/>
              </a:rPr>
              <a:t>school</a:t>
            </a:r>
            <a:r>
              <a:rPr lang="fr-FR" sz="1100" b="1">
                <a:solidFill>
                  <a:prstClr val="black"/>
                </a:solidFill>
                <a:latin typeface="Calibri" panose="020F0502020204030204"/>
              </a:rPr>
              <a:t> : </a:t>
            </a:r>
            <a:r>
              <a:rPr lang="fr-FR" sz="1100">
                <a:solidFill>
                  <a:prstClr val="black"/>
                </a:solidFill>
                <a:latin typeface="Calibri" panose="020F0502020204030204"/>
              </a:rPr>
              <a:t>Master en innovation, mangement &amp; aérospatial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10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fr-FR" sz="1100" b="1">
                <a:solidFill>
                  <a:prstClr val="black"/>
                </a:solidFill>
                <a:latin typeface="Calibri" panose="020F0502020204030204"/>
              </a:rPr>
              <a:t>Carlos III de Madrid  </a:t>
            </a:r>
            <a:r>
              <a:rPr lang="fr-FR" sz="1100">
                <a:solidFill>
                  <a:prstClr val="black"/>
                </a:solidFill>
                <a:latin typeface="Calibri" panose="020F0502020204030204"/>
              </a:rPr>
              <a:t>: Erasmus en aérospatial théorique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EPF engineering </a:t>
            </a:r>
            <a:r>
              <a:rPr kumimoji="0" lang="fr-FR" sz="11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</a:t>
            </a: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Master en aéronautique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507558-5632-60CB-602B-5BFFF37084C5}"/>
              </a:ext>
            </a:extLst>
          </p:cNvPr>
          <p:cNvSpPr/>
          <p:nvPr/>
        </p:nvSpPr>
        <p:spPr>
          <a:xfrm>
            <a:off x="377307" y="5548457"/>
            <a:ext cx="2904084" cy="302596"/>
          </a:xfrm>
          <a:prstGeom prst="rect">
            <a:avLst/>
          </a:prstGeom>
          <a:solidFill>
            <a:srgbClr val="0075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RÉFÉRENCES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12C07E16-D789-0DA2-6650-219CB4ED0661}"/>
              </a:ext>
            </a:extLst>
          </p:cNvPr>
          <p:cNvGrpSpPr/>
          <p:nvPr/>
        </p:nvGrpSpPr>
        <p:grpSpPr>
          <a:xfrm>
            <a:off x="377308" y="2383603"/>
            <a:ext cx="2904083" cy="739948"/>
            <a:chOff x="377308" y="2600794"/>
            <a:chExt cx="2904083" cy="73994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521673-2C05-64D1-3156-68F13F6C60F4}"/>
                </a:ext>
              </a:extLst>
            </p:cNvPr>
            <p:cNvSpPr/>
            <p:nvPr/>
          </p:nvSpPr>
          <p:spPr>
            <a:xfrm>
              <a:off x="1827806" y="2600794"/>
              <a:ext cx="1453585" cy="7399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OUTILS</a:t>
              </a:r>
            </a:p>
            <a:p>
              <a:pPr marL="114300" marR="0" lvl="0" indent="-11430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MS Suite office</a:t>
              </a:r>
            </a:p>
            <a:p>
              <a:pPr marL="114300" marR="0" lvl="0" indent="-11430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050">
                  <a:solidFill>
                    <a:prstClr val="black"/>
                  </a:solidFill>
                  <a:latin typeface="Calibri"/>
                </a:rPr>
                <a:t>N8N, Claude Code, Google AI studio</a:t>
              </a:r>
              <a:endParaRPr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endParaRPr>
            </a:p>
            <a:p>
              <a:pPr marL="114300" marR="0" lvl="0" indent="-11430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050">
                  <a:solidFill>
                    <a:prstClr val="black"/>
                  </a:solidFill>
                  <a:latin typeface="Calibri"/>
                </a:rPr>
                <a:t>Google </a:t>
              </a:r>
              <a:r>
                <a:rPr lang="fr-FR" sz="1050" err="1">
                  <a:solidFill>
                    <a:prstClr val="black"/>
                  </a:solidFill>
                  <a:latin typeface="Calibri"/>
                </a:rPr>
                <a:t>Ads</a:t>
              </a:r>
              <a:endPara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54D7E65-64D9-B609-EECA-6E732D78490C}"/>
                </a:ext>
              </a:extLst>
            </p:cNvPr>
            <p:cNvSpPr/>
            <p:nvPr/>
          </p:nvSpPr>
          <p:spPr>
            <a:xfrm>
              <a:off x="377308" y="2600794"/>
              <a:ext cx="1472557" cy="7399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LANGUES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</a:p>
            <a:p>
              <a:pPr marL="114300" marR="0" lvl="0" indent="-114300" algn="l" defTabSz="514321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Français :   </a:t>
              </a:r>
              <a:r>
                <a:rPr kumimoji="0" lang="fr-FR" sz="1050" b="0" i="0" u="none" strike="noStrike" kern="1200" cap="none" spc="0" normalizeH="0" baseline="0" noProof="0">
                  <a:ln>
                    <a:noFill/>
                  </a:ln>
                  <a:solidFill>
                    <a:srgbClr val="00D16C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Wingdings" panose="05000000000000000000" pitchFamily="2" charset="2"/>
                </a:rPr>
                <a:t></a:t>
              </a:r>
            </a:p>
            <a:p>
              <a:pPr marL="114300" marR="0" lvl="0" indent="-114300" algn="l" defTabSz="514321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Anglais :     </a:t>
              </a:r>
              <a:r>
                <a:rPr kumimoji="0" lang="fr-FR" sz="1050" b="0" i="0" u="none" strike="noStrike" kern="1200" cap="none" spc="0" normalizeH="0" baseline="0" noProof="0">
                  <a:ln>
                    <a:noFill/>
                  </a:ln>
                  <a:solidFill>
                    <a:srgbClr val="00D16C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Wingdings" panose="05000000000000000000" pitchFamily="2" charset="2"/>
                </a:rPr>
                <a:t></a:t>
              </a:r>
            </a:p>
            <a:p>
              <a:pPr marL="114300" marR="0" lvl="0" indent="-114300" algn="l" defTabSz="514321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050">
                  <a:solidFill>
                    <a:prstClr val="black"/>
                  </a:solidFill>
                  <a:latin typeface="Calibri"/>
                </a:rPr>
                <a:t>Espagnol</a:t>
              </a:r>
              <a:r>
                <a:rPr kumimoji="0" lang="fr-FR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:  </a:t>
              </a:r>
              <a:r>
                <a:rPr kumimoji="0" lang="fr-FR" sz="1050" b="0" i="0" u="none" strike="noStrike" kern="1200" cap="none" spc="0" normalizeH="0" baseline="0" noProof="0">
                  <a:ln>
                    <a:noFill/>
                  </a:ln>
                  <a:solidFill>
                    <a:srgbClr val="00D16C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Wingdings" panose="05000000000000000000" pitchFamily="2" charset="2"/>
                </a:rPr>
                <a:t></a:t>
              </a:r>
              <a:r>
                <a:rPr kumimoji="0" lang="fr-FR" sz="1050" b="0" i="0" u="none" strike="noStrike" kern="1200" cap="none" spc="0" normalizeH="0" baseline="0" noProof="0">
                  <a:ln>
                    <a:noFill/>
                  </a:ln>
                  <a:solidFill>
                    <a:srgbClr val="B4B3B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Wingdings" panose="05000000000000000000" pitchFamily="2" charset="2"/>
                </a:rPr>
                <a:t></a:t>
              </a:r>
            </a:p>
            <a:p>
              <a:pPr marL="171450" marR="0" lvl="0" indent="-171450" algn="l" defTabSz="514321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E98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rgbClr val="00D16C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581C967-AF68-6732-D175-9FA457FB2CB5}"/>
              </a:ext>
            </a:extLst>
          </p:cNvPr>
          <p:cNvSpPr/>
          <p:nvPr/>
        </p:nvSpPr>
        <p:spPr>
          <a:xfrm>
            <a:off x="398362" y="1650591"/>
            <a:ext cx="667072" cy="139928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CE99C7-3AB7-4DAB-63E2-24E4A68E63B7}"/>
              </a:ext>
            </a:extLst>
          </p:cNvPr>
          <p:cNvSpPr/>
          <p:nvPr/>
        </p:nvSpPr>
        <p:spPr>
          <a:xfrm>
            <a:off x="398362" y="1831269"/>
            <a:ext cx="1487240" cy="139928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GESTION DE PROJETS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B07BEA-F73E-568A-49EA-E36AC49D459D}"/>
              </a:ext>
            </a:extLst>
          </p:cNvPr>
          <p:cNvSpPr/>
          <p:nvPr/>
        </p:nvSpPr>
        <p:spPr>
          <a:xfrm>
            <a:off x="1115548" y="1650591"/>
            <a:ext cx="1223933" cy="139928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STRATÉGIE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429AF2-4C8D-38D2-9065-8C6B2669C107}"/>
              </a:ext>
            </a:extLst>
          </p:cNvPr>
          <p:cNvSpPr/>
          <p:nvPr/>
        </p:nvSpPr>
        <p:spPr>
          <a:xfrm>
            <a:off x="398363" y="2011947"/>
            <a:ext cx="655624" cy="139397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>
                <a:solidFill>
                  <a:prstClr val="white"/>
                </a:solidFill>
                <a:latin typeface="Calibri" panose="020F0502020204030204"/>
              </a:rPr>
              <a:t>INNOVATION</a:t>
            </a:r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AC7A55-8E1F-FB02-FE45-A27C7FD4CDA5}"/>
              </a:ext>
            </a:extLst>
          </p:cNvPr>
          <p:cNvSpPr/>
          <p:nvPr/>
        </p:nvSpPr>
        <p:spPr>
          <a:xfrm>
            <a:off x="1371451" y="2192625"/>
            <a:ext cx="1665864" cy="139928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BUSINESS CASE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DA7B65-472C-D47E-5379-25CF2621A825}"/>
              </a:ext>
            </a:extLst>
          </p:cNvPr>
          <p:cNvSpPr/>
          <p:nvPr/>
        </p:nvSpPr>
        <p:spPr>
          <a:xfrm>
            <a:off x="1774055" y="2011416"/>
            <a:ext cx="1354482" cy="139928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VISUALISATION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00217C-9965-409D-0BDC-E69AF7FF8F13}"/>
              </a:ext>
            </a:extLst>
          </p:cNvPr>
          <p:cNvSpPr/>
          <p:nvPr/>
        </p:nvSpPr>
        <p:spPr>
          <a:xfrm>
            <a:off x="1995100" y="1831269"/>
            <a:ext cx="1223933" cy="139928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BENCHMARKING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8A73B7B-DB7E-A516-E260-9840C911FC37}"/>
              </a:ext>
            </a:extLst>
          </p:cNvPr>
          <p:cNvSpPr/>
          <p:nvPr/>
        </p:nvSpPr>
        <p:spPr>
          <a:xfrm>
            <a:off x="377307" y="4618907"/>
            <a:ext cx="2904084" cy="302596"/>
          </a:xfrm>
          <a:prstGeom prst="rect">
            <a:avLst/>
          </a:prstGeom>
          <a:solidFill>
            <a:srgbClr val="0075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CERTIFICATIONS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5C34F53-2CD8-DF37-E650-F5F2898E1B92}"/>
              </a:ext>
            </a:extLst>
          </p:cNvPr>
          <p:cNvSpPr/>
          <p:nvPr/>
        </p:nvSpPr>
        <p:spPr>
          <a:xfrm>
            <a:off x="372389" y="4924862"/>
            <a:ext cx="2904085" cy="39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Supervised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Machine Learning: </a:t>
            </a: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Regression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Classification (Stanford – Online)</a:t>
            </a:r>
          </a:p>
          <a:p>
            <a:pPr marL="171450" marR="0" lvl="0" indent="-17145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AI </a:t>
            </a: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LLM (Stanford – Online)</a:t>
            </a:r>
          </a:p>
        </p:txBody>
      </p:sp>
      <p:pic>
        <p:nvPicPr>
          <p:cNvPr id="54" name="Picture 2" descr="Airbus logo | Airbus">
            <a:extLst>
              <a:ext uri="{FF2B5EF4-FFF2-40B4-BE49-F238E27FC236}">
                <a16:creationId xmlns:a16="http://schemas.microsoft.com/office/drawing/2014/main" id="{18D39B65-32C4-1000-6871-A8393439D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743" y="6131953"/>
            <a:ext cx="1206380" cy="44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4">
            <a:extLst>
              <a:ext uri="{FF2B5EF4-FFF2-40B4-BE49-F238E27FC236}">
                <a16:creationId xmlns:a16="http://schemas.microsoft.com/office/drawing/2014/main" id="{38B9A52A-1FC8-7302-3B86-C440E37EE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44" y="6005011"/>
            <a:ext cx="1290452" cy="15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4ED97D6-763F-5FF3-889C-C99E67E0A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342" y="5893087"/>
            <a:ext cx="1379029" cy="289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03BA1B45-F9F8-8B0E-903A-470B86EF6561}"/>
              </a:ext>
            </a:extLst>
          </p:cNvPr>
          <p:cNvSpPr/>
          <p:nvPr/>
        </p:nvSpPr>
        <p:spPr>
          <a:xfrm>
            <a:off x="3432205" y="1650590"/>
            <a:ext cx="8340923" cy="5091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100" b="1" dirty="0">
                <a:solidFill>
                  <a:srgbClr val="0075B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PO d’un SI d’approvisionnement utilisé par +5000 collaborateurs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Construction de la roadmap produit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Identification des cas d'usage priorisés sur une roadmap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Analyse des risques techniques et définition des prérequis techniques (mixer)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Identification d’opportunités IA et réalisation de fiches d’opportunités en lien avec les métiers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Définition du modèle opérationnel du déploiement pour l’ensemble de cycle de vie de l’outil</a:t>
            </a:r>
          </a:p>
          <a:p>
            <a:r>
              <a:rPr lang="fr-FR" sz="1100" b="1" dirty="0">
                <a:solidFill>
                  <a:srgbClr val="0075B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Cadrage et pilotage du déploiement d’une plateforme data souveraine transdivision (+10000 utilisateurs cibles)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Réalisation du plan de migration , SLA de maintenance et du </a:t>
            </a:r>
            <a:r>
              <a:rPr lang="fr-FR" sz="1100" dirty="0" err="1">
                <a:solidFill>
                  <a:schemeClr val="tx1"/>
                </a:solidFill>
              </a:rPr>
              <a:t>target</a:t>
            </a:r>
            <a:r>
              <a:rPr lang="fr-FR" sz="1100" dirty="0">
                <a:solidFill>
                  <a:schemeClr val="tx1"/>
                </a:solidFill>
              </a:rPr>
              <a:t> operating model (TOM)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Identification des irritants et identifications d’opportunités IA sur la partie support : 3 cas d’usages priorisés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Pilotage de la migration vers la nouvelle plateforme, définition du modèle opérationnel, construction du RACI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Conduite du changement : accompagnement sur la plateforme, réalisation de guides utilisateurs et amélioration continue</a:t>
            </a:r>
          </a:p>
          <a:p>
            <a:r>
              <a:rPr lang="fr-FR" sz="1100" b="1" dirty="0">
                <a:solidFill>
                  <a:srgbClr val="0075B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Assistant au directeur de programme pour la transformation de l’environnement d’ingénieurs (+35000 ingénieurs)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Déploiement d’un POC sur un outil digital, paramétrage de la solution,  cadrage du périmètre de test, bilan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Construction du plan de généralisation (interdépendances…), alignement des parties prenantes, roadmap de déploiement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Cadrage et suivi de projets sensibles</a:t>
            </a:r>
          </a:p>
          <a:p>
            <a:r>
              <a:rPr lang="fr-FR" sz="1100" b="1" dirty="0">
                <a:solidFill>
                  <a:srgbClr val="0075B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PO – Construction d’un référentiel des régulations environnementales Européennes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Cartographie des réglementations et organismes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Réalisation de fiches d’opportunités  IA et priorisation en lien avec les équipes juridiques, RSE et techniques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Animation d'ateliers sur l’acculturation à l’IA, RAG et Agents IA pour 50 + collaborateurs internes</a:t>
            </a:r>
          </a:p>
          <a:p>
            <a:pPr fontAlgn="ctr"/>
            <a:r>
              <a:rPr lang="fr-FR" sz="1100" b="1" dirty="0">
                <a:solidFill>
                  <a:srgbClr val="0075B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HYARA – Entrepreneuriat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Responsable du plan de développement commercial et de la recherche et développement de la solution.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Réalisation d'une planification territoriale et d'une analyse comparative dans le secteur de l'hydroélectricité.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Définition du modèle commercial et prospection de nouveaux clients : 3 systèmes vendus en 6 mois</a:t>
            </a:r>
          </a:p>
          <a:p>
            <a:r>
              <a:rPr lang="fr-FR" sz="1100" b="1" dirty="0">
                <a:solidFill>
                  <a:srgbClr val="0075B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SWAPSTORE │ Entrepreneuriat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Création du site web avec l'aide d'un développeur web : 5000 utilisateurs inscrits et 500 transactions effectuées les 6 premiers mois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Analyse comparative dans le domaine de la mode d'occasion &amp; définition du modèle économique</a:t>
            </a:r>
          </a:p>
          <a:p>
            <a:r>
              <a:rPr lang="fr-FR" sz="1100" b="1" dirty="0">
                <a:solidFill>
                  <a:srgbClr val="0075B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PARIS AIRPORT GROUP (ADP) – Analyste commercial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</a:rPr>
              <a:t>Identification et mise en place d'indicateurs clés de performance (KPI) &amp; Analyse des données de 70 000 vols sur CDG.</a:t>
            </a:r>
            <a:endParaRPr lang="fr-FR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7E6B4F1-400C-07AF-71B7-8D4BCDCC89AF}"/>
              </a:ext>
            </a:extLst>
          </p:cNvPr>
          <p:cNvSpPr/>
          <p:nvPr/>
        </p:nvSpPr>
        <p:spPr>
          <a:xfrm>
            <a:off x="398362" y="2196227"/>
            <a:ext cx="888571" cy="135587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JIRA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C93C03-E0D1-2D66-1101-3DDD6EE9C7DC}"/>
              </a:ext>
            </a:extLst>
          </p:cNvPr>
          <p:cNvSpPr/>
          <p:nvPr/>
        </p:nvSpPr>
        <p:spPr>
          <a:xfrm>
            <a:off x="2376643" y="1650591"/>
            <a:ext cx="899831" cy="137882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53DDD924-7E15-F249-6308-1EA1BBC1C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682" y="6230237"/>
            <a:ext cx="661840" cy="56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A0B86A8B-EF26-ED69-1D0E-64B41EA0AD21}"/>
              </a:ext>
            </a:extLst>
          </p:cNvPr>
          <p:cNvSpPr/>
          <p:nvPr/>
        </p:nvSpPr>
        <p:spPr>
          <a:xfrm>
            <a:off x="1090470" y="2011947"/>
            <a:ext cx="592238" cy="139397"/>
          </a:xfrm>
          <a:prstGeom prst="rect">
            <a:avLst/>
          </a:prstGeom>
          <a:solidFill>
            <a:srgbClr val="00D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>
                <a:solidFill>
                  <a:prstClr val="white"/>
                </a:solidFill>
                <a:latin typeface="Calibri" panose="020F0502020204030204"/>
              </a:rPr>
              <a:t>PO</a:t>
            </a:r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7222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1EBB1DB8D7CE4C96ED4BF17960A42D" ma:contentTypeVersion="20" ma:contentTypeDescription="Crée un document." ma:contentTypeScope="" ma:versionID="ead0cfadb4707e3699545754266c5750">
  <xsd:schema xmlns:xsd="http://www.w3.org/2001/XMLSchema" xmlns:xs="http://www.w3.org/2001/XMLSchema" xmlns:p="http://schemas.microsoft.com/office/2006/metadata/properties" xmlns:ns2="c28a347b-5b2b-44f9-8d85-6c21dedcf95d" xmlns:ns3="55fdc067-7055-4842-b172-d0789f6b46b2" targetNamespace="http://schemas.microsoft.com/office/2006/metadata/properties" ma:root="true" ma:fieldsID="49e5d644cb84201088f3206fb7df1dde" ns2:_="" ns3:_="">
    <xsd:import namespace="c28a347b-5b2b-44f9-8d85-6c21dedcf95d"/>
    <xsd:import namespace="55fdc067-7055-4842-b172-d0789f6b46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_Flow_Signoff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8a347b-5b2b-44f9-8d85-6c21dedcf9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cc5844d7-e0c4-44af-8d4f-031b09cdb7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6" nillable="true" ma:displayName="État de validation" ma:internalName="_x00c9_tat_x0020_de_x0020_validation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dc067-7055-4842-b172-d0789f6b46b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1c30604-2f56-4022-8160-e355b33a290b}" ma:internalName="TaxCatchAll" ma:showField="CatchAllData" ma:web="55fdc067-7055-4842-b172-d0789f6b46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c28a347b-5b2b-44f9-8d85-6c21dedcf95d" xsi:nil="true"/>
    <TaxCatchAll xmlns="55fdc067-7055-4842-b172-d0789f6b46b2" xsi:nil="true"/>
    <lcf76f155ced4ddcb4097134ff3c332f xmlns="c28a347b-5b2b-44f9-8d85-6c21dedcf95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EAC2BC-50B2-4C01-AA92-4BE4CF999F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8a347b-5b2b-44f9-8d85-6c21dedcf95d"/>
    <ds:schemaRef ds:uri="55fdc067-7055-4842-b172-d0789f6b46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644894-8F42-4C77-9B0E-318015F928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4A9477-F03A-49F9-9896-7537F37B451B}">
  <ds:schemaRefs>
    <ds:schemaRef ds:uri="http://schemas.microsoft.com/office/2006/metadata/properties"/>
    <ds:schemaRef ds:uri="http://schemas.microsoft.com/office/infopath/2007/PartnerControls"/>
    <ds:schemaRef ds:uri="c28a347b-5b2b-44f9-8d85-6c21dedcf95d"/>
    <ds:schemaRef ds:uri="55fdc067-7055-4842-b172-d0789f6b46b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Office PowerPoint</Application>
  <PresentationFormat>Grand écran</PresentationFormat>
  <Paragraphs>59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NLE Consultant Confirmé en stratégie Data &amp; IA - 4 ans d’expérience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Levi</dc:creator>
  <cp:lastModifiedBy>Nicolas Levi</cp:lastModifiedBy>
  <cp:revision>1</cp:revision>
  <dcterms:created xsi:type="dcterms:W3CDTF">2026-02-04T10:19:33Z</dcterms:created>
  <dcterms:modified xsi:type="dcterms:W3CDTF">2026-02-04T15:36:36Z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0x0101003E1EBB1DB8D7CE4C96ED4BF17960A42D</vt:lpwstr>
  </property>
  <property fmtid="{D5CDD505-2E9C-101B-9397-08002B2CF9AE}" pid="3" name="MediaServiceImageTags">
    <vt:lpwstr/>
  </property>
</Properties>
</file>